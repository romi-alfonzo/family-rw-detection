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avance desde la última reunión. Se cubren: la corrección metodológica de las métricas, el hallazgo sobre la variabilidad de las notas, la reformulación del Objetivo 2 y los experimentos nuevos ejecutados en el clúster del NIDTEC.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ejecutivo del avance. Cada fila se desarrolla en las diapositivas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el corpus de notas es de construcción propia, con la procedencia de cada nota registrada en un manifiesto de trazabilidad. Seis familias no tienen archivo bruto público disponible y se cubrieron con transcripciones documentadas: es una de las consultas del cierre. El desbalance del corpus de notas es lo que motiva usar macro-F1.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preferible presentar esta corrección nosotros mismos antes de que la detecte un revisor. La cifra baja pero pasa a ser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frente. Se investiga de forma independiente del de archivos cifrados: no se propone un clasificador combinado.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propio más importante del frente de notas. No estaba planteado en el diseño original: surgió al analizar los casi-duplicados del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y P2 no compiten: responden preguntas distintas. P1 es comparable con las herramientas de reglas; P2 mide generalización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frente, también independiente. Señalar que los archivos cifrados son el artefacto garantizado: la nota puede haberse borrado, no encontrarse, o directamente no existir en algunas familias.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negativo original no era erróneo sino insuficientemente delimitado. Su delimitación precisa resulta más informativa.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 de forma independiente las anotaciones manuales que hicimos al probar ID Ransomware: las nueve familias cuya identificación sobrevivía al renombrado están entre las que el procedimiento detecta.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color de cada barra indica qué marca había detectado el experimento anterior: verde con firma binaria, naranja solo extensión, rojo sin marca. La correspondencia entre ambos experimentos opera como validación cruzada.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 la única incógnita que podía invalidar el resultado principal. Los siete tipos dan valores parejos, sin ningún derrumbe. El caso de jpg es el más exigente, porque un JPEG tiene una estructura interna completamente distinta a un documento de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Coherente con el Experimento 2b: de las quince familias con firma binaria, once la tienen como sufijo y solo cuatro como prefijo. Tiene sentido mecánicamente: añadir un bloque de control al final es más simple que insertarlo al principio, que obligaría a desplazar todo el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de NOTPETYA coincide con lo documentado por Davies et al. (2023). El de SUNCRYPT es un matiz que conviene escribir con precisión: tiene la entropía de cola más baja de todo el conjunto y aun así no se identifica bien, lo que indica que su bloque final varía por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barra gris de la extensión se distingue porque identifica la campaña concreta, no la familia: en NapierOne cada familia está representada por una sola campaña.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aporte conceptual del trabajo: una misma lección obtenida desde dos artefactos de naturaleza muy distinta, uno generado por código y otro redactado por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cifras se citaban antes como bibliografía ajena. Son experimentos propios y ahora están redactados como tales, con su metodología.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presentan como verificaciones deliberadas, no como fracasos: cierran las objeciones previsibles y fundamentan cuantitativamente la ampliación del corpus. El tercero cierra la única limitación de optimización que quedaba declarada en la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expresamente el acceso al clúster. El reglamento obliga a mencionarlo en las publicaciones derivadas.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preguntando por el criterio de ampliación del corpus: se propone medir en plantillas distintas por familia y no en cantidad de notas.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lIns="0" tIns="0" rIns="0" bIns="0" rtlCol="0" anchor="ctr"/>
          <a:lstStyle/>
          <a:p>
            <a:pPr indent="0" marL="0">
              <a:buNone/>
            </a:pPr>
            <a:r>
              <a:rPr lang="en-US" sz="1500" b="1" spc="150" kern="0" dirty="0">
                <a:solidFill>
                  <a:srgbClr val="E8A33D"/>
                </a:solidFill>
                <a:latin typeface="Calibri" pitchFamily="34" charset="0"/>
                <a:ea typeface="Calibri" pitchFamily="34" charset="-122"/>
                <a:cs typeface="Calibri" pitchFamily="34" charset="-120"/>
              </a:rPr>
              <a:t>Avance de tesis</a:t>
            </a:r>
            <a:endParaRPr lang="en-US" sz="1500" dirty="0"/>
          </a:p>
        </p:txBody>
      </p:sp>
      <p:sp>
        <p:nvSpPr>
          <p:cNvPr id="3" name="Text 1"/>
          <p:cNvSpPr/>
          <p:nvPr/>
        </p:nvSpPr>
        <p:spPr>
          <a:xfrm>
            <a:off x="822960" y="1828800"/>
            <a:ext cx="10515600" cy="155448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Cambria" pitchFamily="34" charset="0"/>
                <a:ea typeface="Cambria" pitchFamily="34" charset="-122"/>
                <a:cs typeface="Cambria" pitchFamily="34" charset="-120"/>
              </a:rPr>
              <a:t>Detección de familias de ransomware</a:t>
            </a:r>
            <a:endParaRPr lang="en-US" sz="3400" dirty="0"/>
          </a:p>
          <a:p>
            <a:pPr indent="0" marL="0">
              <a:lnSpc>
                <a:spcPts val="4400"/>
              </a:lnSpc>
              <a:buNone/>
            </a:pPr>
            <a:r>
              <a:rPr lang="en-US" sz="3400" b="1" dirty="0">
                <a:solidFill>
                  <a:srgbClr val="FFFFFF"/>
                </a:solidFill>
                <a:latin typeface="Cambria" pitchFamily="34" charset="0"/>
                <a:ea typeface="Cambria" pitchFamily="34" charset="-122"/>
                <a:cs typeface="Cambria" pitchFamily="34" charset="-120"/>
              </a:rPr>
              <a:t>en base a archivos encriptados y notas de rescate</a:t>
            </a:r>
            <a:endParaRPr lang="en-US" sz="3400" dirty="0"/>
          </a:p>
        </p:txBody>
      </p:sp>
      <p:sp>
        <p:nvSpPr>
          <p:cNvPr id="4" name="Shape 2"/>
          <p:cNvSpPr/>
          <p:nvPr/>
        </p:nvSpPr>
        <p:spPr>
          <a:xfrm>
            <a:off x="822960" y="3611880"/>
            <a:ext cx="1097280" cy="27432"/>
          </a:xfrm>
          <a:prstGeom prst="rect">
            <a:avLst/>
          </a:prstGeom>
          <a:solidFill>
            <a:srgbClr val="E8A33D"/>
          </a:solidFill>
          <a:ln/>
        </p:spPr>
      </p:sp>
      <p:sp>
        <p:nvSpPr>
          <p:cNvPr id="5" name="Text 3"/>
          <p:cNvSpPr/>
          <p:nvPr/>
        </p:nvSpPr>
        <p:spPr>
          <a:xfrm>
            <a:off x="822960" y="3977640"/>
            <a:ext cx="10515600" cy="1097280"/>
          </a:xfrm>
          <a:prstGeom prst="rect">
            <a:avLst/>
          </a:prstGeom>
          <a:noFill/>
          <a:ln/>
        </p:spPr>
        <p:txBody>
          <a:bodyPr wrap="square" lIns="0" tIns="0" rIns="0" bIns="0" rtlCol="0" anchor="ctr"/>
          <a:lstStyle/>
          <a:p>
            <a:pPr indent="0" marL="0">
              <a:lnSpc>
                <a:spcPts val="2400"/>
              </a:lnSpc>
              <a:buNone/>
            </a:pPr>
            <a:r>
              <a:rPr lang="en-US" sz="1500" b="1" dirty="0">
                <a:solidFill>
                  <a:srgbClr val="D6E0F5"/>
                </a:solidFill>
                <a:latin typeface="Calibri" pitchFamily="34" charset="0"/>
                <a:ea typeface="Calibri" pitchFamily="34" charset="-122"/>
                <a:cs typeface="Calibri" pitchFamily="34" charset="-120"/>
              </a:rPr>
              <a:t>Romina Alfonzo · Carlos Urdapilleta</a:t>
            </a:r>
            <a:endParaRPr lang="en-US" sz="1500" dirty="0"/>
          </a:p>
          <a:p>
            <a:pPr indent="0" marL="0">
              <a:lnSpc>
                <a:spcPts val="2400"/>
              </a:lnSpc>
              <a:buNone/>
            </a:pPr>
            <a:r>
              <a:rPr lang="en-US" sz="1500" dirty="0">
                <a:solidFill>
                  <a:srgbClr val="D6E0F5"/>
                </a:solidFill>
                <a:latin typeface="Calibri" pitchFamily="34" charset="0"/>
                <a:ea typeface="Calibri" pitchFamily="34" charset="-122"/>
                <a:cs typeface="Calibri" pitchFamily="34" charset="-120"/>
              </a:rPr>
              <a:t>Tutor: Prof. Cristian Cappo</a:t>
            </a:r>
            <a:endParaRPr lang="en-US" sz="1500" dirty="0"/>
          </a:p>
          <a:p>
            <a:pPr indent="0" marL="0">
              <a:lnSpc>
                <a:spcPts val="2400"/>
              </a:lnSpc>
              <a:buNone/>
            </a:pPr>
            <a:r>
              <a:rPr lang="en-US" sz="1500" dirty="0">
                <a:solidFill>
                  <a:srgbClr val="D6E0F5"/>
                </a:solidFill>
                <a:latin typeface="Calibri" pitchFamily="34" charset="0"/>
                <a:ea typeface="Calibri" pitchFamily="34" charset="-122"/>
                <a:cs typeface="Calibri" pitchFamily="34" charset="-120"/>
              </a:rPr>
              <a:t>Facultad Politécnica — Universidad Nacional de Asunción</a:t>
            </a:r>
            <a:endParaRPr lang="en-US" sz="1500" dirty="0"/>
          </a:p>
        </p:txBody>
      </p:sp>
      <p:sp>
        <p:nvSpPr>
          <p:cNvPr id="6" name="Text 4"/>
          <p:cNvSpPr/>
          <p:nvPr/>
        </p:nvSpPr>
        <p:spPr>
          <a:xfrm>
            <a:off x="822960" y="5943600"/>
            <a:ext cx="10515600" cy="3200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5 de agosto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SITUACIÓN</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Qué cambió desde la última reunión</a:t>
            </a:r>
            <a:endParaRPr lang="en-US" sz="3000" dirty="0"/>
          </a:p>
        </p:txBody>
      </p:sp>
      <p:sp>
        <p:nvSpPr>
          <p:cNvPr id="4" name="Text 2"/>
          <p:cNvSpPr/>
          <p:nvPr/>
        </p:nvSpPr>
        <p:spPr>
          <a:xfrm>
            <a:off x="548640" y="1216152"/>
            <a:ext cx="329184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Aspecto</a:t>
            </a:r>
            <a:endParaRPr lang="en-US" sz="1100" dirty="0"/>
          </a:p>
        </p:txBody>
      </p:sp>
      <p:sp>
        <p:nvSpPr>
          <p:cNvPr id="5" name="Text 3"/>
          <p:cNvSpPr/>
          <p:nvPr/>
        </p:nvSpPr>
        <p:spPr>
          <a:xfrm>
            <a:off x="4023360" y="1216152"/>
            <a:ext cx="356616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Antes</a:t>
            </a:r>
            <a:endParaRPr lang="en-US" sz="1100" dirty="0"/>
          </a:p>
        </p:txBody>
      </p:sp>
      <p:sp>
        <p:nvSpPr>
          <p:cNvPr id="6" name="Text 4"/>
          <p:cNvSpPr/>
          <p:nvPr/>
        </p:nvSpPr>
        <p:spPr>
          <a:xfrm>
            <a:off x="7772400" y="1216152"/>
            <a:ext cx="3840480" cy="27432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Ahora</a:t>
            </a:r>
            <a:endParaRPr lang="en-US" sz="1100" dirty="0"/>
          </a:p>
        </p:txBody>
      </p:sp>
      <p:sp>
        <p:nvSpPr>
          <p:cNvPr id="7" name="Shape 5"/>
          <p:cNvSpPr/>
          <p:nvPr/>
        </p:nvSpPr>
        <p:spPr>
          <a:xfrm>
            <a:off x="548640" y="1600200"/>
            <a:ext cx="11064240" cy="694944"/>
          </a:xfrm>
          <a:prstGeom prst="roundRect">
            <a:avLst>
              <a:gd name="adj" fmla="val 10526"/>
            </a:avLst>
          </a:prstGeom>
          <a:solidFill>
            <a:srgbClr val="F4F6FB"/>
          </a:solidFill>
          <a:ln w="12700">
            <a:solidFill>
              <a:srgbClr val="E2E8F5"/>
            </a:solidFill>
            <a:prstDash val="solid"/>
          </a:ln>
        </p:spPr>
      </p:sp>
      <p:sp>
        <p:nvSpPr>
          <p:cNvPr id="8" name="Text 6"/>
          <p:cNvSpPr/>
          <p:nvPr/>
        </p:nvSpPr>
        <p:spPr>
          <a:xfrm>
            <a:off x="777240" y="1746504"/>
            <a:ext cx="3200400" cy="411480"/>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Capítulo de Resultados</a:t>
            </a:r>
            <a:endParaRPr lang="en-US" sz="1400" dirty="0"/>
          </a:p>
        </p:txBody>
      </p:sp>
      <p:sp>
        <p:nvSpPr>
          <p:cNvPr id="9" name="Text 7"/>
          <p:cNvSpPr/>
          <p:nvPr/>
        </p:nvSpPr>
        <p:spPr>
          <a:xfrm>
            <a:off x="4023360" y="1746504"/>
            <a:ext cx="356616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No existía</a:t>
            </a:r>
            <a:endParaRPr lang="en-US" sz="1300" dirty="0"/>
          </a:p>
        </p:txBody>
      </p:sp>
      <p:sp>
        <p:nvSpPr>
          <p:cNvPr id="10" name="Text 8"/>
          <p:cNvSpPr/>
          <p:nvPr/>
        </p:nvSpPr>
        <p:spPr>
          <a:xfrm>
            <a:off x="7772400" y="1746504"/>
            <a:ext cx="3657600" cy="41148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21 páginas, 5 figuras</a:t>
            </a:r>
            <a:endParaRPr lang="en-US" sz="1300" dirty="0"/>
          </a:p>
        </p:txBody>
      </p:sp>
      <p:sp>
        <p:nvSpPr>
          <p:cNvPr id="11" name="Shape 9"/>
          <p:cNvSpPr/>
          <p:nvPr/>
        </p:nvSpPr>
        <p:spPr>
          <a:xfrm>
            <a:off x="548640" y="2441448"/>
            <a:ext cx="11064240" cy="694944"/>
          </a:xfrm>
          <a:prstGeom prst="roundRect">
            <a:avLst>
              <a:gd name="adj" fmla="val 10526"/>
            </a:avLst>
          </a:prstGeom>
          <a:solidFill>
            <a:srgbClr val="FFFFFF"/>
          </a:solidFill>
          <a:ln w="12700">
            <a:solidFill>
              <a:srgbClr val="E2E8F5"/>
            </a:solidFill>
            <a:prstDash val="solid"/>
          </a:ln>
        </p:spPr>
      </p:sp>
      <p:sp>
        <p:nvSpPr>
          <p:cNvPr id="12" name="Text 10"/>
          <p:cNvSpPr/>
          <p:nvPr/>
        </p:nvSpPr>
        <p:spPr>
          <a:xfrm>
            <a:off x="777240" y="2587752"/>
            <a:ext cx="3200400" cy="411480"/>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Métricas reportadas</a:t>
            </a:r>
            <a:endParaRPr lang="en-US" sz="1400" dirty="0"/>
          </a:p>
        </p:txBody>
      </p:sp>
      <p:sp>
        <p:nvSpPr>
          <p:cNvPr id="13" name="Text 11"/>
          <p:cNvSpPr/>
          <p:nvPr/>
        </p:nvSpPr>
        <p:spPr>
          <a:xfrm>
            <a:off x="4023360" y="2587752"/>
            <a:ext cx="356616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Exactitud y F1 ponderado</a:t>
            </a:r>
            <a:endParaRPr lang="en-US" sz="1300" dirty="0"/>
          </a:p>
        </p:txBody>
      </p:sp>
      <p:sp>
        <p:nvSpPr>
          <p:cNvPr id="14" name="Text 12"/>
          <p:cNvSpPr/>
          <p:nvPr/>
        </p:nvSpPr>
        <p:spPr>
          <a:xfrm>
            <a:off x="7772400" y="2587752"/>
            <a:ext cx="3657600" cy="41148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Macro-F1 y exactitud balanceada</a:t>
            </a:r>
            <a:endParaRPr lang="en-US" sz="1300" dirty="0"/>
          </a:p>
        </p:txBody>
      </p:sp>
      <p:sp>
        <p:nvSpPr>
          <p:cNvPr id="15" name="Shape 13"/>
          <p:cNvSpPr/>
          <p:nvPr/>
        </p:nvSpPr>
        <p:spPr>
          <a:xfrm>
            <a:off x="548640" y="3282696"/>
            <a:ext cx="11064240" cy="694944"/>
          </a:xfrm>
          <a:prstGeom prst="roundRect">
            <a:avLst>
              <a:gd name="adj" fmla="val 10526"/>
            </a:avLst>
          </a:prstGeom>
          <a:solidFill>
            <a:srgbClr val="F4F6FB"/>
          </a:solidFill>
          <a:ln w="12700">
            <a:solidFill>
              <a:srgbClr val="E2E8F5"/>
            </a:solidFill>
            <a:prstDash val="solid"/>
          </a:ln>
        </p:spPr>
      </p:sp>
      <p:sp>
        <p:nvSpPr>
          <p:cNvPr id="16" name="Text 14"/>
          <p:cNvSpPr/>
          <p:nvPr/>
        </p:nvSpPr>
        <p:spPr>
          <a:xfrm>
            <a:off x="777240" y="3429000"/>
            <a:ext cx="3200400" cy="411480"/>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Identificación por archivos</a:t>
            </a:r>
            <a:endParaRPr lang="en-US" sz="1400" dirty="0"/>
          </a:p>
        </p:txBody>
      </p:sp>
      <p:sp>
        <p:nvSpPr>
          <p:cNvPr id="17" name="Text 15"/>
          <p:cNvSpPr/>
          <p:nvPr/>
        </p:nvSpPr>
        <p:spPr>
          <a:xfrm>
            <a:off x="4023360" y="3429000"/>
            <a:ext cx="356616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9,9 % — se concluía inviable</a:t>
            </a:r>
            <a:endParaRPr lang="en-US" sz="1300" dirty="0"/>
          </a:p>
        </p:txBody>
      </p:sp>
      <p:sp>
        <p:nvSpPr>
          <p:cNvPr id="18" name="Text 16"/>
          <p:cNvSpPr/>
          <p:nvPr/>
        </p:nvSpPr>
        <p:spPr>
          <a:xfrm>
            <a:off x="7772400" y="3429000"/>
            <a:ext cx="3657600" cy="41148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91,0 % — con reformulación</a:t>
            </a:r>
            <a:endParaRPr lang="en-US" sz="1300" dirty="0"/>
          </a:p>
        </p:txBody>
      </p:sp>
      <p:sp>
        <p:nvSpPr>
          <p:cNvPr id="19" name="Shape 17"/>
          <p:cNvSpPr/>
          <p:nvPr/>
        </p:nvSpPr>
        <p:spPr>
          <a:xfrm>
            <a:off x="548640" y="4123944"/>
            <a:ext cx="11064240" cy="694944"/>
          </a:xfrm>
          <a:prstGeom prst="roundRect">
            <a:avLst>
              <a:gd name="adj" fmla="val 10526"/>
            </a:avLst>
          </a:prstGeom>
          <a:solidFill>
            <a:srgbClr val="FFFFFF"/>
          </a:solidFill>
          <a:ln w="12700">
            <a:solidFill>
              <a:srgbClr val="E2E8F5"/>
            </a:solidFill>
            <a:prstDash val="solid"/>
          </a:ln>
        </p:spPr>
      </p:sp>
      <p:sp>
        <p:nvSpPr>
          <p:cNvPr id="20" name="Text 18"/>
          <p:cNvSpPr/>
          <p:nvPr/>
        </p:nvSpPr>
        <p:spPr>
          <a:xfrm>
            <a:off x="777240" y="4270248"/>
            <a:ext cx="3200400" cy="411480"/>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Identificación por notas</a:t>
            </a:r>
            <a:endParaRPr lang="en-US" sz="1400" dirty="0"/>
          </a:p>
        </p:txBody>
      </p:sp>
      <p:sp>
        <p:nvSpPr>
          <p:cNvPr id="21" name="Text 19"/>
          <p:cNvSpPr/>
          <p:nvPr/>
        </p:nvSpPr>
        <p:spPr>
          <a:xfrm>
            <a:off x="4023360" y="4270248"/>
            <a:ext cx="356616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87,58 % (cifra inflada)</a:t>
            </a:r>
            <a:endParaRPr lang="en-US" sz="1300" dirty="0"/>
          </a:p>
        </p:txBody>
      </p:sp>
      <p:sp>
        <p:nvSpPr>
          <p:cNvPr id="22" name="Text 20"/>
          <p:cNvSpPr/>
          <p:nvPr/>
        </p:nvSpPr>
        <p:spPr>
          <a:xfrm>
            <a:off x="7772400" y="4270248"/>
            <a:ext cx="3657600" cy="41148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0,760 / 0,435 según protocolo</a:t>
            </a:r>
            <a:endParaRPr lang="en-US" sz="1300" dirty="0"/>
          </a:p>
        </p:txBody>
      </p:sp>
      <p:sp>
        <p:nvSpPr>
          <p:cNvPr id="23" name="Shape 21"/>
          <p:cNvSpPr/>
          <p:nvPr/>
        </p:nvSpPr>
        <p:spPr>
          <a:xfrm>
            <a:off x="548640" y="4965192"/>
            <a:ext cx="11064240" cy="694944"/>
          </a:xfrm>
          <a:prstGeom prst="roundRect">
            <a:avLst>
              <a:gd name="adj" fmla="val 10526"/>
            </a:avLst>
          </a:prstGeom>
          <a:solidFill>
            <a:srgbClr val="F4F6FB"/>
          </a:solidFill>
          <a:ln w="12700">
            <a:solidFill>
              <a:srgbClr val="E2E8F5"/>
            </a:solidFill>
            <a:prstDash val="solid"/>
          </a:ln>
        </p:spPr>
      </p:sp>
      <p:sp>
        <p:nvSpPr>
          <p:cNvPr id="24" name="Text 22"/>
          <p:cNvSpPr/>
          <p:nvPr/>
        </p:nvSpPr>
        <p:spPr>
          <a:xfrm>
            <a:off x="777240" y="5111496"/>
            <a:ext cx="3200400" cy="411480"/>
          </a:xfrm>
          <a:prstGeom prst="rect">
            <a:avLst/>
          </a:prstGeom>
          <a:noFill/>
          <a:ln/>
        </p:spPr>
        <p:txBody>
          <a:bodyPr wrap="square" lIns="0" tIns="0" rIns="0" bIns="0" rtlCol="0" anchor="ctr"/>
          <a:lstStyle/>
          <a:p>
            <a:pPr indent="0" marL="0">
              <a:buNone/>
            </a:pPr>
            <a:r>
              <a:rPr lang="en-US" sz="1400" b="1" dirty="0">
                <a:solidFill>
                  <a:srgbClr val="16233F"/>
                </a:solidFill>
                <a:latin typeface="Calibri" pitchFamily="34" charset="0"/>
                <a:ea typeface="Calibri" pitchFamily="34" charset="-122"/>
                <a:cs typeface="Calibri" pitchFamily="34" charset="-120"/>
              </a:rPr>
              <a:t>Infraestructura</a:t>
            </a:r>
            <a:endParaRPr lang="en-US" sz="1400" dirty="0"/>
          </a:p>
        </p:txBody>
      </p:sp>
      <p:sp>
        <p:nvSpPr>
          <p:cNvPr id="25" name="Text 23"/>
          <p:cNvSpPr/>
          <p:nvPr/>
        </p:nvSpPr>
        <p:spPr>
          <a:xfrm>
            <a:off x="4023360" y="5111496"/>
            <a:ext cx="3566160" cy="4114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Equipo personal</a:t>
            </a:r>
            <a:endParaRPr lang="en-US" sz="1300" dirty="0"/>
          </a:p>
        </p:txBody>
      </p:sp>
      <p:sp>
        <p:nvSpPr>
          <p:cNvPr id="26" name="Text 24"/>
          <p:cNvSpPr/>
          <p:nvPr/>
        </p:nvSpPr>
        <p:spPr>
          <a:xfrm>
            <a:off x="7772400" y="5111496"/>
            <a:ext cx="3657600" cy="41148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Clúster del NIDTEC</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LOS DATOS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Conjuntos de datos utilizados</a:t>
            </a:r>
            <a:endParaRPr lang="en-US" sz="3000" dirty="0"/>
          </a:p>
        </p:txBody>
      </p:sp>
      <p:sp>
        <p:nvSpPr>
          <p:cNvPr id="4" name="Shape 2"/>
          <p:cNvSpPr/>
          <p:nvPr/>
        </p:nvSpPr>
        <p:spPr>
          <a:xfrm>
            <a:off x="548640" y="1417320"/>
            <a:ext cx="5394960" cy="4343400"/>
          </a:xfrm>
          <a:prstGeom prst="roundRect">
            <a:avLst>
              <a:gd name="adj" fmla="val 1684"/>
            </a:avLst>
          </a:prstGeom>
          <a:solidFill>
            <a:srgbClr val="F4F6FB"/>
          </a:solidFill>
          <a:ln w="12700">
            <a:solidFill>
              <a:srgbClr val="E2E8F5"/>
            </a:solidFill>
            <a:prstDash val="solid"/>
          </a:ln>
        </p:spPr>
      </p:sp>
      <p:sp>
        <p:nvSpPr>
          <p:cNvPr id="5" name="Text 3"/>
          <p:cNvSpPr/>
          <p:nvPr/>
        </p:nvSpPr>
        <p:spPr>
          <a:xfrm>
            <a:off x="868680" y="1627632"/>
            <a:ext cx="4754880" cy="365760"/>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Notas de rescate</a:t>
            </a:r>
            <a:endParaRPr lang="en-US" sz="1800" dirty="0"/>
          </a:p>
        </p:txBody>
      </p:sp>
      <p:sp>
        <p:nvSpPr>
          <p:cNvPr id="6" name="Text 4"/>
          <p:cNvSpPr/>
          <p:nvPr/>
        </p:nvSpPr>
        <p:spPr>
          <a:xfrm>
            <a:off x="868680" y="2029968"/>
            <a:ext cx="475488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Corpus propio, construido para este trabajo</a:t>
            </a:r>
            <a:endParaRPr lang="en-US" sz="1150" dirty="0"/>
          </a:p>
        </p:txBody>
      </p:sp>
      <p:sp>
        <p:nvSpPr>
          <p:cNvPr id="7" name="Text 5"/>
          <p:cNvSpPr/>
          <p:nvPr/>
        </p:nvSpPr>
        <p:spPr>
          <a:xfrm>
            <a:off x="868680" y="2377440"/>
            <a:ext cx="228600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146</a:t>
            </a:r>
            <a:endParaRPr lang="en-US" sz="4000" dirty="0"/>
          </a:p>
        </p:txBody>
      </p:sp>
      <p:sp>
        <p:nvSpPr>
          <p:cNvPr id="8" name="Text 6"/>
          <p:cNvSpPr/>
          <p:nvPr/>
        </p:nvSpPr>
        <p:spPr>
          <a:xfrm>
            <a:off x="868680" y="3072384"/>
            <a:ext cx="228600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notas</a:t>
            </a:r>
            <a:endParaRPr lang="en-US" sz="1100" dirty="0"/>
          </a:p>
        </p:txBody>
      </p:sp>
      <p:sp>
        <p:nvSpPr>
          <p:cNvPr id="9" name="Text 7"/>
          <p:cNvSpPr/>
          <p:nvPr/>
        </p:nvSpPr>
        <p:spPr>
          <a:xfrm>
            <a:off x="3291840" y="2377440"/>
            <a:ext cx="228600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30</a:t>
            </a:r>
            <a:endParaRPr lang="en-US" sz="4000" dirty="0"/>
          </a:p>
        </p:txBody>
      </p:sp>
      <p:sp>
        <p:nvSpPr>
          <p:cNvPr id="10" name="Text 8"/>
          <p:cNvSpPr/>
          <p:nvPr/>
        </p:nvSpPr>
        <p:spPr>
          <a:xfrm>
            <a:off x="3291840" y="3072384"/>
            <a:ext cx="228600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familias</a:t>
            </a:r>
            <a:endParaRPr lang="en-US" sz="1100" dirty="0"/>
          </a:p>
        </p:txBody>
      </p:sp>
      <p:sp>
        <p:nvSpPr>
          <p:cNvPr id="11" name="Text 9"/>
          <p:cNvSpPr/>
          <p:nvPr/>
        </p:nvSpPr>
        <p:spPr>
          <a:xfrm>
            <a:off x="868680" y="3657600"/>
            <a:ext cx="4754880" cy="274320"/>
          </a:xfrm>
          <a:prstGeom prst="rect">
            <a:avLst/>
          </a:prstGeom>
          <a:noFill/>
          <a:ln/>
        </p:spPr>
        <p:txBody>
          <a:bodyPr wrap="square" lIns="0" tIns="0" rIns="0" bIns="0"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Procedencia registrada nota por nota:</a:t>
            </a:r>
            <a:endParaRPr lang="en-US" sz="1200" dirty="0"/>
          </a:p>
        </p:txBody>
      </p:sp>
      <p:sp>
        <p:nvSpPr>
          <p:cNvPr id="12" name="Text 10"/>
          <p:cNvSpPr/>
          <p:nvPr/>
        </p:nvSpPr>
        <p:spPr>
          <a:xfrm>
            <a:off x="1097280" y="3977640"/>
            <a:ext cx="4572000" cy="1051560"/>
          </a:xfrm>
          <a:prstGeom prst="rect">
            <a:avLst/>
          </a:prstGeom>
          <a:noFill/>
          <a:ln/>
        </p:spPr>
        <p:txBody>
          <a:bodyPr wrap="square" lIns="0" tIns="0" rIns="0" bIns="0" rtlCol="0" anchor="ctr"/>
          <a:lstStyle/>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ThreatLabz (Zscaler) — 49</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lemmou/RansomNoteFiles — 47</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Corpus previo del proyecto — 37</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PCRisk (transcripciones) — 13</a:t>
            </a:r>
            <a:endParaRPr lang="en-US" sz="1150" dirty="0"/>
          </a:p>
        </p:txBody>
      </p:sp>
      <p:sp>
        <p:nvSpPr>
          <p:cNvPr id="13" name="Text 11"/>
          <p:cNvSpPr/>
          <p:nvPr/>
        </p:nvSpPr>
        <p:spPr>
          <a:xfrm>
            <a:off x="868680" y="5120640"/>
            <a:ext cx="4754880" cy="502920"/>
          </a:xfrm>
          <a:prstGeom prst="rect">
            <a:avLst/>
          </a:prstGeom>
          <a:noFill/>
          <a:ln/>
        </p:spPr>
        <p:txBody>
          <a:bodyPr wrap="square" lIns="0" tIns="0" rIns="0" bIns="0" rtlCol="0" anchor="ctr"/>
          <a:lstStyle/>
          <a:p>
            <a:pPr indent="0" marL="0">
              <a:lnSpc>
                <a:spcPts val="1800"/>
              </a:lnSpc>
              <a:buNone/>
            </a:pPr>
            <a:r>
              <a:rPr lang="en-US" sz="1150" i="1" dirty="0">
                <a:solidFill>
                  <a:srgbClr val="A8443C"/>
                </a:solidFill>
                <a:latin typeface="Calibri" pitchFamily="34" charset="0"/>
                <a:ea typeface="Calibri" pitchFamily="34" charset="-122"/>
                <a:cs typeface="Calibri" pitchFamily="34" charset="-120"/>
              </a:rPr>
              <a:t>Distribución muy desigual: DHARMA reúne 19 notas y siete familias solo dos.</a:t>
            </a:r>
            <a:endParaRPr lang="en-US" sz="1150" dirty="0"/>
          </a:p>
        </p:txBody>
      </p:sp>
      <p:sp>
        <p:nvSpPr>
          <p:cNvPr id="14" name="Shape 12"/>
          <p:cNvSpPr/>
          <p:nvPr/>
        </p:nvSpPr>
        <p:spPr>
          <a:xfrm>
            <a:off x="6217920" y="1417320"/>
            <a:ext cx="5394960" cy="4343400"/>
          </a:xfrm>
          <a:prstGeom prst="roundRect">
            <a:avLst>
              <a:gd name="adj" fmla="val 1684"/>
            </a:avLst>
          </a:prstGeom>
          <a:solidFill>
            <a:srgbClr val="F4F6FB"/>
          </a:solidFill>
          <a:ln w="12700">
            <a:solidFill>
              <a:srgbClr val="E2E8F5"/>
            </a:solidFill>
            <a:prstDash val="solid"/>
          </a:ln>
        </p:spPr>
      </p:sp>
      <p:sp>
        <p:nvSpPr>
          <p:cNvPr id="15" name="Text 13"/>
          <p:cNvSpPr/>
          <p:nvPr/>
        </p:nvSpPr>
        <p:spPr>
          <a:xfrm>
            <a:off x="6537960" y="1627632"/>
            <a:ext cx="4754880" cy="365760"/>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Archivos cifrados</a:t>
            </a:r>
            <a:endParaRPr lang="en-US" sz="1800" dirty="0"/>
          </a:p>
        </p:txBody>
      </p:sp>
      <p:sp>
        <p:nvSpPr>
          <p:cNvPr id="16" name="Text 14"/>
          <p:cNvSpPr/>
          <p:nvPr/>
        </p:nvSpPr>
        <p:spPr>
          <a:xfrm>
            <a:off x="6537960" y="2029968"/>
            <a:ext cx="475488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NapierOne — Davies, Macfarlane y Buchanan (2022)</a:t>
            </a:r>
            <a:endParaRPr lang="en-US" sz="1150" dirty="0"/>
          </a:p>
        </p:txBody>
      </p:sp>
      <p:sp>
        <p:nvSpPr>
          <p:cNvPr id="17" name="Text 15"/>
          <p:cNvSpPr/>
          <p:nvPr/>
        </p:nvSpPr>
        <p:spPr>
          <a:xfrm>
            <a:off x="6537960" y="2377440"/>
            <a:ext cx="228600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29.029</a:t>
            </a:r>
            <a:endParaRPr lang="en-US" sz="4000" dirty="0"/>
          </a:p>
        </p:txBody>
      </p:sp>
      <p:sp>
        <p:nvSpPr>
          <p:cNvPr id="18" name="Text 16"/>
          <p:cNvSpPr/>
          <p:nvPr/>
        </p:nvSpPr>
        <p:spPr>
          <a:xfrm>
            <a:off x="6537960" y="3072384"/>
            <a:ext cx="228600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archivos</a:t>
            </a:r>
            <a:endParaRPr lang="en-US" sz="1100" dirty="0"/>
          </a:p>
        </p:txBody>
      </p:sp>
      <p:sp>
        <p:nvSpPr>
          <p:cNvPr id="19" name="Text 17"/>
          <p:cNvSpPr/>
          <p:nvPr/>
        </p:nvSpPr>
        <p:spPr>
          <a:xfrm>
            <a:off x="8961120" y="2377440"/>
            <a:ext cx="228600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29</a:t>
            </a:r>
            <a:endParaRPr lang="en-US" sz="4000" dirty="0"/>
          </a:p>
        </p:txBody>
      </p:sp>
      <p:sp>
        <p:nvSpPr>
          <p:cNvPr id="20" name="Text 18"/>
          <p:cNvSpPr/>
          <p:nvPr/>
        </p:nvSpPr>
        <p:spPr>
          <a:xfrm>
            <a:off x="8961120" y="3072384"/>
            <a:ext cx="228600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familias</a:t>
            </a:r>
            <a:endParaRPr lang="en-US" sz="1100" dirty="0"/>
          </a:p>
        </p:txBody>
      </p:sp>
      <p:sp>
        <p:nvSpPr>
          <p:cNvPr id="21" name="Text 19"/>
          <p:cNvSpPr/>
          <p:nvPr/>
        </p:nvSpPr>
        <p:spPr>
          <a:xfrm>
            <a:off x="6537960" y="3657600"/>
            <a:ext cx="4754880" cy="274320"/>
          </a:xfrm>
          <a:prstGeom prst="rect">
            <a:avLst/>
          </a:prstGeom>
          <a:noFill/>
          <a:ln/>
        </p:spPr>
        <p:txBody>
          <a:bodyPr wrap="square" lIns="0" tIns="0" rIns="0" bIns="0"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Composición del conjunto:</a:t>
            </a:r>
            <a:endParaRPr lang="en-US" sz="1200" dirty="0"/>
          </a:p>
        </p:txBody>
      </p:sp>
      <p:sp>
        <p:nvSpPr>
          <p:cNvPr id="22" name="Text 20"/>
          <p:cNvSpPr/>
          <p:nvPr/>
        </p:nvSpPr>
        <p:spPr>
          <a:xfrm>
            <a:off x="6766560" y="3977640"/>
            <a:ext cx="4572000" cy="1051560"/>
          </a:xfrm>
          <a:prstGeom prst="rect">
            <a:avLst/>
          </a:prstGeom>
          <a:noFill/>
          <a:ln/>
        </p:spPr>
        <p:txBody>
          <a:bodyPr wrap="square" lIns="0" tIns="0" rIns="0" bIns="0" rtlCol="0" anchor="ctr"/>
          <a:lstStyle/>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1.001 archivos por familia, balanceado</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Seis tipos de documento: doc, docx, pdf, ppt, xls, jpg</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275 características extraídas por archivo</a:t>
            </a:r>
            <a:endParaRPr lang="en-US" sz="1150" dirty="0"/>
          </a:p>
          <a:p>
            <a:pPr marL="342900" indent="-342900">
              <a:lnSpc>
                <a:spcPts val="1800"/>
              </a:lnSpc>
              <a:buSzPct val="100000"/>
              <a:buChar char="•"/>
            </a:pPr>
            <a:r>
              <a:rPr lang="en-US" sz="1150" dirty="0">
                <a:solidFill>
                  <a:srgbClr val="374151"/>
                </a:solidFill>
                <a:latin typeface="Calibri" pitchFamily="34" charset="0"/>
                <a:ea typeface="Calibri" pitchFamily="34" charset="-122"/>
                <a:cs typeface="Calibri" pitchFamily="34" charset="-120"/>
              </a:rPr>
              <a:t>Experimento 2c: 14.500 archivos (500 por familia)</a:t>
            </a:r>
            <a:endParaRPr lang="en-US" sz="1150" dirty="0"/>
          </a:p>
        </p:txBody>
      </p:sp>
      <p:sp>
        <p:nvSpPr>
          <p:cNvPr id="23" name="Text 21"/>
          <p:cNvSpPr/>
          <p:nvPr/>
        </p:nvSpPr>
        <p:spPr>
          <a:xfrm>
            <a:off x="6537960" y="5120640"/>
            <a:ext cx="4754880" cy="502920"/>
          </a:xfrm>
          <a:prstGeom prst="rect">
            <a:avLst/>
          </a:prstGeom>
          <a:noFill/>
          <a:ln/>
        </p:spPr>
        <p:txBody>
          <a:bodyPr wrap="square" lIns="0" tIns="0" rIns="0" bIns="0" rtlCol="0" anchor="ctr"/>
          <a:lstStyle/>
          <a:p>
            <a:pPr indent="0" marL="0">
              <a:lnSpc>
                <a:spcPts val="1800"/>
              </a:lnSpc>
              <a:buNone/>
            </a:pPr>
            <a:r>
              <a:rPr lang="en-US" sz="1150" i="1" dirty="0">
                <a:solidFill>
                  <a:srgbClr val="A8443C"/>
                </a:solidFill>
                <a:latin typeface="Calibri" pitchFamily="34" charset="0"/>
                <a:ea typeface="Calibri" pitchFamily="34" charset="-122"/>
                <a:cs typeface="Calibri" pitchFamily="34" charset="-120"/>
              </a:rPr>
              <a:t>Son 29 y no 30 familias: BLACKBASTA no está disponible en la copia del clúster.</a:t>
            </a:r>
            <a:endParaRPr lang="en-US" sz="1150" dirty="0"/>
          </a:p>
        </p:txBody>
      </p:sp>
      <p:sp>
        <p:nvSpPr>
          <p:cNvPr id="24" name="Text 22"/>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250" b="1" dirty="0">
                <a:solidFill>
                  <a:srgbClr val="2E4374"/>
                </a:solidFill>
                <a:latin typeface="Calibri" pitchFamily="34" charset="0"/>
                <a:ea typeface="Calibri" pitchFamily="34" charset="-122"/>
                <a:cs typeface="Calibri" pitchFamily="34" charset="-120"/>
              </a:rPr>
              <a:t>Azar de referencia:  1/30 = 0,033 para las notas  ·  1/29 = 0,034 para los archivos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PRIMER AJUSTE</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Corrección metodológica de las métricas</a:t>
            </a:r>
            <a:endParaRPr lang="en-US" sz="3000" dirty="0"/>
          </a:p>
        </p:txBody>
      </p:sp>
      <p:sp>
        <p:nvSpPr>
          <p:cNvPr id="4" name="Text 2"/>
          <p:cNvSpPr/>
          <p:nvPr/>
        </p:nvSpPr>
        <p:spPr>
          <a:xfrm>
            <a:off x="548640" y="1463040"/>
            <a:ext cx="6675120" cy="1371600"/>
          </a:xfrm>
          <a:prstGeom prst="rect">
            <a:avLst/>
          </a:prstGeom>
          <a:noFill/>
          <a:ln/>
        </p:spPr>
        <p:txBody>
          <a:bodyPr wrap="square" lIns="0" tIns="0" rIns="0" bIns="0" rtlCol="0" anchor="ctr"/>
          <a:lstStyle/>
          <a:p>
            <a:pPr indent="0" marL="0">
              <a:lnSpc>
                <a:spcPts val="2400"/>
              </a:lnSpc>
              <a:buNone/>
            </a:pPr>
            <a:r>
              <a:rPr lang="en-US" sz="1500" dirty="0">
                <a:solidFill>
                  <a:srgbClr val="374151"/>
                </a:solidFill>
                <a:latin typeface="Calibri" pitchFamily="34" charset="0"/>
                <a:ea typeface="Calibri" pitchFamily="34" charset="-122"/>
                <a:cs typeface="Calibri" pitchFamily="34" charset="-120"/>
              </a:rPr>
              <a:t>El 87,58 % que se venía reportando era la exactitud global, acompañada de promedios ponderados por el tamaño de cada clase. </a:t>
            </a:r>
            <a:endParaRPr lang="en-US" sz="1500" dirty="0"/>
          </a:p>
          <a:p>
            <a:pPr indent="0" marL="0">
              <a:lnSpc>
                <a:spcPts val="2400"/>
              </a:lnSpc>
              <a:buNone/>
            </a:pPr>
            <a:r>
              <a:rPr lang="en-US" sz="1500" dirty="0">
                <a:solidFill>
                  <a:srgbClr val="374151"/>
                </a:solidFill>
                <a:latin typeface="Calibri" pitchFamily="34" charset="0"/>
                <a:ea typeface="Calibri" pitchFamily="34" charset="-122"/>
                <a:cs typeface="Calibri" pitchFamily="34" charset="-120"/>
              </a:rPr>
              <a:t>Dos familias (DHARMA y CERBER) concentran el 25 % del corpus, de modo que ese promedio queda dominado por ellas y sobrestima el desempeño sobre las familias pequeñas, que son las de mayor interés operativo.</a:t>
            </a:r>
            <a:endParaRPr lang="en-US" sz="1500" dirty="0"/>
          </a:p>
        </p:txBody>
      </p:sp>
      <p:sp>
        <p:nvSpPr>
          <p:cNvPr id="5" name="Text 3"/>
          <p:cNvSpPr/>
          <p:nvPr/>
        </p:nvSpPr>
        <p:spPr>
          <a:xfrm>
            <a:off x="548640" y="2971800"/>
            <a:ext cx="6675120" cy="822960"/>
          </a:xfrm>
          <a:prstGeom prst="rect">
            <a:avLst/>
          </a:prstGeom>
          <a:noFill/>
          <a:ln/>
        </p:spPr>
        <p:txBody>
          <a:bodyPr wrap="square" lIns="0" tIns="0" rIns="0" bIns="0" rtlCol="0" anchor="ctr"/>
          <a:lstStyle/>
          <a:p>
            <a:pPr indent="0" marL="0">
              <a:lnSpc>
                <a:spcPts val="2400"/>
              </a:lnSpc>
              <a:buNone/>
            </a:pPr>
            <a:r>
              <a:rPr lang="en-US" sz="1500" b="1" dirty="0">
                <a:solidFill>
                  <a:srgbClr val="16233F"/>
                </a:solidFill>
                <a:latin typeface="Calibri" pitchFamily="34" charset="0"/>
                <a:ea typeface="Calibri" pitchFamily="34" charset="-122"/>
                <a:cs typeface="Calibri" pitchFamily="34" charset="-120"/>
              </a:rPr>
              <a:t>Se adopta el macro-F1 como métrica principal, con exactitud balanceada, informe por familia y matriz de confusión.</a:t>
            </a:r>
            <a:endParaRPr lang="en-US" sz="1500" dirty="0"/>
          </a:p>
        </p:txBody>
      </p:sp>
      <p:sp>
        <p:nvSpPr>
          <p:cNvPr id="6" name="Shape 4"/>
          <p:cNvSpPr/>
          <p:nvPr/>
        </p:nvSpPr>
        <p:spPr>
          <a:xfrm>
            <a:off x="548640" y="4069080"/>
            <a:ext cx="6675120" cy="1600200"/>
          </a:xfrm>
          <a:prstGeom prst="roundRect">
            <a:avLst>
              <a:gd name="adj" fmla="val 4571"/>
            </a:avLst>
          </a:prstGeom>
          <a:solidFill>
            <a:srgbClr val="FDF6EC"/>
          </a:solidFill>
          <a:ln w="12700">
            <a:solidFill>
              <a:srgbClr val="E2E8F5"/>
            </a:solidFill>
            <a:prstDash val="solid"/>
          </a:ln>
        </p:spPr>
      </p:sp>
      <p:sp>
        <p:nvSpPr>
          <p:cNvPr id="7" name="Text 5"/>
          <p:cNvSpPr/>
          <p:nvPr/>
        </p:nvSpPr>
        <p:spPr>
          <a:xfrm>
            <a:off x="868680" y="4251960"/>
            <a:ext cx="6035040" cy="27432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Además se corrigieron tres defectos del protocolo:</a:t>
            </a:r>
            <a:endParaRPr lang="en-US" sz="1300" dirty="0"/>
          </a:p>
        </p:txBody>
      </p:sp>
      <p:sp>
        <p:nvSpPr>
          <p:cNvPr id="8" name="Text 6"/>
          <p:cNvSpPr/>
          <p:nvPr/>
        </p:nvSpPr>
        <p:spPr>
          <a:xfrm>
            <a:off x="914400" y="4572000"/>
            <a:ext cx="6035040" cy="1005840"/>
          </a:xfrm>
          <a:prstGeom prst="rect">
            <a:avLst/>
          </a:prstGeom>
          <a:noFill/>
          <a:ln/>
        </p:spPr>
        <p:txBody>
          <a:bodyPr wrap="square" lIns="0" tIns="0" rIns="0" bIns="0" rtlCol="0" anchor="ctr"/>
          <a:lstStyle/>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24 % de notas duplicadas quedaban a la vez en entrenamiento y prueba</a:t>
            </a:r>
            <a:endParaRPr lang="en-US" sz="1250" dirty="0"/>
          </a:p>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El vectorizador se ajustaba sobre todo el corpus (fuga de información)</a:t>
            </a:r>
            <a:endParaRPr lang="en-US" sz="1250" dirty="0"/>
          </a:p>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Una sola partición aleatoria; ahora se repite con diez semillas</a:t>
            </a:r>
            <a:endParaRPr lang="en-US" sz="1250" dirty="0"/>
          </a:p>
        </p:txBody>
      </p:sp>
      <p:sp>
        <p:nvSpPr>
          <p:cNvPr id="9" name="Shape 7"/>
          <p:cNvSpPr/>
          <p:nvPr/>
        </p:nvSpPr>
        <p:spPr>
          <a:xfrm>
            <a:off x="7589520" y="1463040"/>
            <a:ext cx="4023360" cy="4206240"/>
          </a:xfrm>
          <a:prstGeom prst="roundRect">
            <a:avLst>
              <a:gd name="adj" fmla="val 1818"/>
            </a:avLst>
          </a:prstGeom>
          <a:solidFill>
            <a:srgbClr val="F4F6FB"/>
          </a:solidFill>
          <a:ln w="12700">
            <a:solidFill>
              <a:srgbClr val="E2E8F5"/>
            </a:solidFill>
            <a:prstDash val="solid"/>
          </a:ln>
        </p:spPr>
      </p:sp>
      <p:sp>
        <p:nvSpPr>
          <p:cNvPr id="10" name="Text 8"/>
          <p:cNvSpPr/>
          <p:nvPr/>
        </p:nvSpPr>
        <p:spPr>
          <a:xfrm>
            <a:off x="7863840" y="1691640"/>
            <a:ext cx="3474720" cy="32004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Efecto sobre el resultado</a:t>
            </a:r>
            <a:endParaRPr lang="en-US" sz="1300" dirty="0"/>
          </a:p>
        </p:txBody>
      </p:sp>
      <p:sp>
        <p:nvSpPr>
          <p:cNvPr id="11" name="Text 9"/>
          <p:cNvSpPr/>
          <p:nvPr/>
        </p:nvSpPr>
        <p:spPr>
          <a:xfrm>
            <a:off x="7863840" y="2148840"/>
            <a:ext cx="3474720" cy="713232"/>
          </a:xfrm>
          <a:prstGeom prst="rect">
            <a:avLst/>
          </a:prstGeom>
          <a:noFill/>
          <a:ln/>
        </p:spPr>
        <p:txBody>
          <a:bodyPr wrap="square" lIns="0" tIns="0" rIns="0" bIns="0" rtlCol="0" anchor="ctr"/>
          <a:lstStyle/>
          <a:p>
            <a:pPr algn="ctr" indent="0" marL="0">
              <a:buNone/>
            </a:pPr>
            <a:r>
              <a:rPr lang="en-US" sz="4000" b="1" dirty="0">
                <a:solidFill>
                  <a:srgbClr val="6B7280"/>
                </a:solidFill>
                <a:latin typeface="Cambria" pitchFamily="34" charset="0"/>
                <a:ea typeface="Cambria" pitchFamily="34" charset="-122"/>
                <a:cs typeface="Cambria" pitchFamily="34" charset="-120"/>
              </a:rPr>
              <a:t>0,897</a:t>
            </a:r>
            <a:endParaRPr lang="en-US" sz="4000" dirty="0"/>
          </a:p>
        </p:txBody>
      </p:sp>
      <p:sp>
        <p:nvSpPr>
          <p:cNvPr id="12" name="Text 10"/>
          <p:cNvSpPr/>
          <p:nvPr/>
        </p:nvSpPr>
        <p:spPr>
          <a:xfrm>
            <a:off x="7863840" y="2843784"/>
            <a:ext cx="3474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exactitud reportada antes</a:t>
            </a:r>
            <a:endParaRPr lang="en-US" sz="1100" dirty="0"/>
          </a:p>
        </p:txBody>
      </p:sp>
      <p:sp>
        <p:nvSpPr>
          <p:cNvPr id="13" name="Text 11"/>
          <p:cNvSpPr/>
          <p:nvPr/>
        </p:nvSpPr>
        <p:spPr>
          <a:xfrm>
            <a:off x="7863840" y="3291840"/>
            <a:ext cx="3474720" cy="274320"/>
          </a:xfrm>
          <a:prstGeom prst="rect">
            <a:avLst/>
          </a:prstGeom>
          <a:noFill/>
          <a:ln/>
        </p:spPr>
        <p:txBody>
          <a:bodyPr wrap="square" lIns="0" tIns="0" rIns="0" bIns="0" rtlCol="0" anchor="ctr"/>
          <a:lstStyle/>
          <a:p>
            <a:pPr algn="ctr" indent="0" marL="0">
              <a:buNone/>
            </a:pPr>
            <a:r>
              <a:rPr lang="en-US" sz="1400" dirty="0">
                <a:solidFill>
                  <a:srgbClr val="E8A33D"/>
                </a:solidFill>
              </a:rPr>
              <a:t>▼</a:t>
            </a:r>
            <a:endParaRPr lang="en-US" sz="1400" dirty="0"/>
          </a:p>
        </p:txBody>
      </p:sp>
      <p:sp>
        <p:nvSpPr>
          <p:cNvPr id="14" name="Text 12"/>
          <p:cNvSpPr/>
          <p:nvPr/>
        </p:nvSpPr>
        <p:spPr>
          <a:xfrm>
            <a:off x="7863840" y="3611880"/>
            <a:ext cx="347472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0,760</a:t>
            </a:r>
            <a:endParaRPr lang="en-US" sz="4000" dirty="0"/>
          </a:p>
        </p:txBody>
      </p:sp>
      <p:sp>
        <p:nvSpPr>
          <p:cNvPr id="15" name="Text 13"/>
          <p:cNvSpPr/>
          <p:nvPr/>
        </p:nvSpPr>
        <p:spPr>
          <a:xfrm>
            <a:off x="7863840" y="4306824"/>
            <a:ext cx="3474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macro-F1, protocolo P1</a:t>
            </a:r>
            <a:endParaRPr lang="en-US" sz="1100" dirty="0"/>
          </a:p>
        </p:txBody>
      </p:sp>
      <p:sp>
        <p:nvSpPr>
          <p:cNvPr id="16" name="Text 14"/>
          <p:cNvSpPr/>
          <p:nvPr/>
        </p:nvSpPr>
        <p:spPr>
          <a:xfrm>
            <a:off x="7863840" y="4892040"/>
            <a:ext cx="3474720" cy="640080"/>
          </a:xfrm>
          <a:prstGeom prst="rect">
            <a:avLst/>
          </a:prstGeom>
          <a:noFill/>
          <a:ln/>
        </p:spPr>
        <p:txBody>
          <a:bodyPr wrap="square" lIns="0" tIns="0" rIns="0" bIns="0" rtlCol="0" anchor="ctr"/>
          <a:lstStyle/>
          <a:p>
            <a:pPr algn="ctr" indent="0" marL="0">
              <a:lnSpc>
                <a:spcPts val="1700"/>
              </a:lnSpc>
              <a:buNone/>
            </a:pPr>
            <a:r>
              <a:rPr lang="en-US" sz="1200" i="1" dirty="0">
                <a:solidFill>
                  <a:srgbClr val="2E4374"/>
                </a:solidFill>
                <a:latin typeface="Calibri" pitchFamily="34" charset="0"/>
                <a:ea typeface="Calibri" pitchFamily="34" charset="-122"/>
                <a:cs typeface="Calibri" pitchFamily="34" charset="-120"/>
              </a:rPr>
              <a:t>La diferencia no es un empeoramiento:</a:t>
            </a:r>
            <a:endParaRPr lang="en-US" sz="1200" dirty="0"/>
          </a:p>
          <a:p>
            <a:pPr algn="ctr" indent="0" marL="0">
              <a:lnSpc>
                <a:spcPts val="1700"/>
              </a:lnSpc>
              <a:buNone/>
            </a:pPr>
            <a:r>
              <a:rPr lang="en-US" sz="1200" i="1" dirty="0">
                <a:solidFill>
                  <a:srgbClr val="2E4374"/>
                </a:solidFill>
                <a:latin typeface="Calibri" pitchFamily="34" charset="0"/>
                <a:ea typeface="Calibri" pitchFamily="34" charset="-122"/>
                <a:cs typeface="Calibri" pitchFamily="34" charset="-120"/>
              </a:rPr>
              <a:t>es la medición correcta.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822960" y="2148840"/>
            <a:ext cx="1828800" cy="1188720"/>
          </a:xfrm>
          <a:prstGeom prst="rect">
            <a:avLst/>
          </a:prstGeom>
          <a:noFill/>
          <a:ln/>
        </p:spPr>
        <p:txBody>
          <a:bodyPr wrap="square" lIns="0" tIns="0" rIns="0" bIns="0" rtlCol="0" anchor="ctr"/>
          <a:lstStyle/>
          <a:p>
            <a:pPr indent="0" marL="0">
              <a:buNone/>
            </a:pPr>
            <a:r>
              <a:rPr lang="en-US" sz="7600" b="1" dirty="0">
                <a:solidFill>
                  <a:srgbClr val="E8A33D"/>
                </a:solidFill>
                <a:latin typeface="Cambria" pitchFamily="34" charset="0"/>
                <a:ea typeface="Cambria" pitchFamily="34" charset="-122"/>
                <a:cs typeface="Cambria" pitchFamily="34" charset="-120"/>
              </a:rPr>
              <a:t>1</a:t>
            </a:r>
            <a:endParaRPr lang="en-US" sz="7600" dirty="0"/>
          </a:p>
        </p:txBody>
      </p:sp>
      <p:sp>
        <p:nvSpPr>
          <p:cNvPr id="3" name="Text 1"/>
          <p:cNvSpPr/>
          <p:nvPr/>
        </p:nvSpPr>
        <p:spPr>
          <a:xfrm>
            <a:off x="2834640" y="2286000"/>
            <a:ext cx="85039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Notas de rescate</a:t>
            </a:r>
            <a:endParaRPr lang="en-US" sz="3600" dirty="0"/>
          </a:p>
        </p:txBody>
      </p:sp>
      <p:sp>
        <p:nvSpPr>
          <p:cNvPr id="4" name="Text 2"/>
          <p:cNvSpPr/>
          <p:nvPr/>
        </p:nvSpPr>
        <p:spPr>
          <a:xfrm>
            <a:off x="2880360" y="3200400"/>
            <a:ext cx="8229600" cy="731520"/>
          </a:xfrm>
          <a:prstGeom prst="rect">
            <a:avLst/>
          </a:prstGeom>
          <a:noFill/>
          <a:ln/>
        </p:spPr>
        <p:txBody>
          <a:bodyPr wrap="square" lIns="0" tIns="0" rIns="0" bIns="0" rtlCol="0" anchor="ctr"/>
          <a:lstStyle/>
          <a:p>
            <a:pPr indent="0" marL="0">
              <a:lnSpc>
                <a:spcPts val="2300"/>
              </a:lnSpc>
              <a:buNone/>
            </a:pPr>
            <a:r>
              <a:rPr lang="en-US" sz="1500" dirty="0">
                <a:solidFill>
                  <a:srgbClr val="D6E0F5"/>
                </a:solidFill>
                <a:latin typeface="Calibri" pitchFamily="34" charset="0"/>
                <a:ea typeface="Calibri" pitchFamily="34" charset="-122"/>
                <a:cs typeface="Calibri" pitchFamily="34" charset="-120"/>
              </a:rPr>
              <a:t>Clasificación de la familia a partir del texto de la nota que el atacante deja en el sistema de la víctima.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HALLAZGO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Las notas de rescate son plantillas</a:t>
            </a:r>
            <a:endParaRPr lang="en-US" sz="3000" dirty="0"/>
          </a:p>
        </p:txBody>
      </p:sp>
      <p:sp>
        <p:nvSpPr>
          <p:cNvPr id="4" name="Text 2"/>
          <p:cNvSpPr/>
          <p:nvPr/>
        </p:nvSpPr>
        <p:spPr>
          <a:xfrm>
            <a:off x="548640" y="1463040"/>
            <a:ext cx="11064240" cy="822960"/>
          </a:xfrm>
          <a:prstGeom prst="rect">
            <a:avLst/>
          </a:prstGeom>
          <a:noFill/>
          <a:ln/>
        </p:spPr>
        <p:txBody>
          <a:bodyPr wrap="square" lIns="0" tIns="0" rIns="0" bIns="0" rtlCol="0" anchor="ctr"/>
          <a:lstStyle/>
          <a:p>
            <a:pPr indent="0" marL="0">
              <a:lnSpc>
                <a:spcPts val="2400"/>
              </a:lnSpc>
              <a:buNone/>
            </a:pPr>
            <a:r>
              <a:rPr lang="en-US" sz="1500" dirty="0">
                <a:solidFill>
                  <a:srgbClr val="374151"/>
                </a:solidFill>
                <a:latin typeface="Calibri" pitchFamily="34" charset="0"/>
                <a:ea typeface="Calibri" pitchFamily="34" charset="-122"/>
                <a:cs typeface="Calibri" pitchFamily="34" charset="-120"/>
              </a:rPr>
              <a:t>El análisis de similitud del corpus muestra que las 146 notas corresponden a solo 95 contenidos distintos: cada familia reutiliza un repertorio reducido de plantillas modificando únicamente los datos de contacto.</a:t>
            </a:r>
            <a:endParaRPr lang="en-US" sz="1500" dirty="0"/>
          </a:p>
        </p:txBody>
      </p:sp>
      <p:sp>
        <p:nvSpPr>
          <p:cNvPr id="5" name="Shape 3"/>
          <p:cNvSpPr/>
          <p:nvPr/>
        </p:nvSpPr>
        <p:spPr>
          <a:xfrm>
            <a:off x="548640" y="2468880"/>
            <a:ext cx="2651760" cy="1417320"/>
          </a:xfrm>
          <a:prstGeom prst="roundRect">
            <a:avLst>
              <a:gd name="adj" fmla="val 5161"/>
            </a:avLst>
          </a:prstGeom>
          <a:solidFill>
            <a:srgbClr val="F4F6FB"/>
          </a:solidFill>
          <a:ln w="12700">
            <a:solidFill>
              <a:srgbClr val="E2E8F5"/>
            </a:solidFill>
            <a:prstDash val="solid"/>
          </a:ln>
        </p:spPr>
      </p:sp>
      <p:sp>
        <p:nvSpPr>
          <p:cNvPr id="6" name="Text 4"/>
          <p:cNvSpPr/>
          <p:nvPr/>
        </p:nvSpPr>
        <p:spPr>
          <a:xfrm>
            <a:off x="685800" y="2606040"/>
            <a:ext cx="2377440" cy="292608"/>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DHARMA</a:t>
            </a:r>
            <a:endParaRPr lang="en-US" sz="1250" dirty="0"/>
          </a:p>
        </p:txBody>
      </p:sp>
      <p:sp>
        <p:nvSpPr>
          <p:cNvPr id="7" name="Text 5"/>
          <p:cNvSpPr/>
          <p:nvPr/>
        </p:nvSpPr>
        <p:spPr>
          <a:xfrm>
            <a:off x="685800" y="2971800"/>
            <a:ext cx="2377440" cy="320040"/>
          </a:xfrm>
          <a:prstGeom prst="rect">
            <a:avLst/>
          </a:prstGeom>
          <a:noFill/>
          <a:ln/>
        </p:spPr>
        <p:txBody>
          <a:bodyPr wrap="square" lIns="0" tIns="0" rIns="0" bIns="0" rtlCol="0" anchor="ctr"/>
          <a:lstStyle/>
          <a:p>
            <a:pPr algn="ctr" indent="0" marL="0">
              <a:buNone/>
            </a:pPr>
            <a:r>
              <a:rPr lang="en-US" sz="1300" dirty="0">
                <a:solidFill>
                  <a:srgbClr val="2E4374"/>
                </a:solidFill>
                <a:latin typeface="Calibri" pitchFamily="34" charset="0"/>
                <a:ea typeface="Calibri" pitchFamily="34" charset="-122"/>
                <a:cs typeface="Calibri" pitchFamily="34" charset="-120"/>
              </a:rPr>
              <a:t>19 notas  →  6 plantillas</a:t>
            </a:r>
            <a:endParaRPr lang="en-US" sz="1300" dirty="0"/>
          </a:p>
        </p:txBody>
      </p:sp>
      <p:sp>
        <p:nvSpPr>
          <p:cNvPr id="8" name="Text 6"/>
          <p:cNvSpPr/>
          <p:nvPr/>
        </p:nvSpPr>
        <p:spPr>
          <a:xfrm>
            <a:off x="685800" y="3364992"/>
            <a:ext cx="2377440" cy="274320"/>
          </a:xfrm>
          <a:prstGeom prst="rect">
            <a:avLst/>
          </a:prstGeom>
          <a:noFill/>
          <a:ln/>
        </p:spPr>
        <p:txBody>
          <a:bodyPr wrap="square" lIns="0" tIns="0" rIns="0" bIns="0" rtlCol="0" anchor="ctr"/>
          <a:lstStyle/>
          <a:p>
            <a:pPr algn="ctr" indent="0" marL="0">
              <a:buNone/>
            </a:pPr>
            <a:endParaRPr lang="en-US" sz="1050" dirty="0"/>
          </a:p>
        </p:txBody>
      </p:sp>
      <p:sp>
        <p:nvSpPr>
          <p:cNvPr id="9" name="Shape 7"/>
          <p:cNvSpPr/>
          <p:nvPr/>
        </p:nvSpPr>
        <p:spPr>
          <a:xfrm>
            <a:off x="3401568" y="2468880"/>
            <a:ext cx="2651760" cy="1417320"/>
          </a:xfrm>
          <a:prstGeom prst="roundRect">
            <a:avLst>
              <a:gd name="adj" fmla="val 5161"/>
            </a:avLst>
          </a:prstGeom>
          <a:solidFill>
            <a:srgbClr val="F4F6FB"/>
          </a:solidFill>
          <a:ln w="12700">
            <a:solidFill>
              <a:srgbClr val="E2E8F5"/>
            </a:solidFill>
            <a:prstDash val="solid"/>
          </a:ln>
        </p:spPr>
      </p:sp>
      <p:sp>
        <p:nvSpPr>
          <p:cNvPr id="10" name="Text 8"/>
          <p:cNvSpPr/>
          <p:nvPr/>
        </p:nvSpPr>
        <p:spPr>
          <a:xfrm>
            <a:off x="3538728" y="2606040"/>
            <a:ext cx="2377440" cy="292608"/>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CERBER</a:t>
            </a:r>
            <a:endParaRPr lang="en-US" sz="1250" dirty="0"/>
          </a:p>
        </p:txBody>
      </p:sp>
      <p:sp>
        <p:nvSpPr>
          <p:cNvPr id="11" name="Text 9"/>
          <p:cNvSpPr/>
          <p:nvPr/>
        </p:nvSpPr>
        <p:spPr>
          <a:xfrm>
            <a:off x="3538728" y="2971800"/>
            <a:ext cx="2377440" cy="320040"/>
          </a:xfrm>
          <a:prstGeom prst="rect">
            <a:avLst/>
          </a:prstGeom>
          <a:noFill/>
          <a:ln/>
        </p:spPr>
        <p:txBody>
          <a:bodyPr wrap="square" lIns="0" tIns="0" rIns="0" bIns="0" rtlCol="0" anchor="ctr"/>
          <a:lstStyle/>
          <a:p>
            <a:pPr algn="ctr" indent="0" marL="0">
              <a:buNone/>
            </a:pPr>
            <a:r>
              <a:rPr lang="en-US" sz="1300" dirty="0">
                <a:solidFill>
                  <a:srgbClr val="2E4374"/>
                </a:solidFill>
                <a:latin typeface="Calibri" pitchFamily="34" charset="0"/>
                <a:ea typeface="Calibri" pitchFamily="34" charset="-122"/>
                <a:cs typeface="Calibri" pitchFamily="34" charset="-120"/>
              </a:rPr>
              <a:t>18 notas  →  8 plantillas</a:t>
            </a:r>
            <a:endParaRPr lang="en-US" sz="1300" dirty="0"/>
          </a:p>
        </p:txBody>
      </p:sp>
      <p:sp>
        <p:nvSpPr>
          <p:cNvPr id="12" name="Text 10"/>
          <p:cNvSpPr/>
          <p:nvPr/>
        </p:nvSpPr>
        <p:spPr>
          <a:xfrm>
            <a:off x="3538728" y="3364992"/>
            <a:ext cx="2377440" cy="274320"/>
          </a:xfrm>
          <a:prstGeom prst="rect">
            <a:avLst/>
          </a:prstGeom>
          <a:noFill/>
          <a:ln/>
        </p:spPr>
        <p:txBody>
          <a:bodyPr wrap="square" lIns="0" tIns="0" rIns="0" bIns="0" rtlCol="0" anchor="ctr"/>
          <a:lstStyle/>
          <a:p>
            <a:pPr algn="ctr" indent="0" marL="0">
              <a:buNone/>
            </a:pPr>
            <a:endParaRPr lang="en-US" sz="1050" dirty="0"/>
          </a:p>
        </p:txBody>
      </p:sp>
      <p:sp>
        <p:nvSpPr>
          <p:cNvPr id="13" name="Shape 11"/>
          <p:cNvSpPr/>
          <p:nvPr/>
        </p:nvSpPr>
        <p:spPr>
          <a:xfrm>
            <a:off x="6254496" y="2468880"/>
            <a:ext cx="2651760" cy="1417320"/>
          </a:xfrm>
          <a:prstGeom prst="roundRect">
            <a:avLst>
              <a:gd name="adj" fmla="val 5161"/>
            </a:avLst>
          </a:prstGeom>
          <a:solidFill>
            <a:srgbClr val="F4F6FB"/>
          </a:solidFill>
          <a:ln w="12700">
            <a:solidFill>
              <a:srgbClr val="E2E8F5"/>
            </a:solidFill>
            <a:prstDash val="solid"/>
          </a:ln>
        </p:spPr>
      </p:sp>
      <p:sp>
        <p:nvSpPr>
          <p:cNvPr id="14" name="Text 12"/>
          <p:cNvSpPr/>
          <p:nvPr/>
        </p:nvSpPr>
        <p:spPr>
          <a:xfrm>
            <a:off x="6391656" y="2606040"/>
            <a:ext cx="2377440" cy="292608"/>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TESLACRYPT</a:t>
            </a:r>
            <a:endParaRPr lang="en-US" sz="1250" dirty="0"/>
          </a:p>
        </p:txBody>
      </p:sp>
      <p:sp>
        <p:nvSpPr>
          <p:cNvPr id="15" name="Text 13"/>
          <p:cNvSpPr/>
          <p:nvPr/>
        </p:nvSpPr>
        <p:spPr>
          <a:xfrm>
            <a:off x="6391656" y="2971800"/>
            <a:ext cx="2377440" cy="320040"/>
          </a:xfrm>
          <a:prstGeom prst="rect">
            <a:avLst/>
          </a:prstGeom>
          <a:noFill/>
          <a:ln/>
        </p:spPr>
        <p:txBody>
          <a:bodyPr wrap="square" lIns="0" tIns="0" rIns="0" bIns="0" rtlCol="0" anchor="ctr"/>
          <a:lstStyle/>
          <a:p>
            <a:pPr algn="ctr" indent="0" marL="0">
              <a:buNone/>
            </a:pPr>
            <a:r>
              <a:rPr lang="en-US" sz="1300" dirty="0">
                <a:solidFill>
                  <a:srgbClr val="2E4374"/>
                </a:solidFill>
                <a:latin typeface="Calibri" pitchFamily="34" charset="0"/>
                <a:ea typeface="Calibri" pitchFamily="34" charset="-122"/>
                <a:cs typeface="Calibri" pitchFamily="34" charset="-120"/>
              </a:rPr>
              <a:t>9 notas  →  4 plantillas</a:t>
            </a:r>
            <a:endParaRPr lang="en-US" sz="1300" dirty="0"/>
          </a:p>
        </p:txBody>
      </p:sp>
      <p:sp>
        <p:nvSpPr>
          <p:cNvPr id="16" name="Text 14"/>
          <p:cNvSpPr/>
          <p:nvPr/>
        </p:nvSpPr>
        <p:spPr>
          <a:xfrm>
            <a:off x="6391656" y="3364992"/>
            <a:ext cx="2377440" cy="274320"/>
          </a:xfrm>
          <a:prstGeom prst="rect">
            <a:avLst/>
          </a:prstGeom>
          <a:noFill/>
          <a:ln/>
        </p:spPr>
        <p:txBody>
          <a:bodyPr wrap="square" lIns="0" tIns="0" rIns="0" bIns="0" rtlCol="0" anchor="ctr"/>
          <a:lstStyle/>
          <a:p>
            <a:pPr algn="ctr" indent="0" marL="0">
              <a:buNone/>
            </a:pPr>
            <a:endParaRPr lang="en-US" sz="1050" dirty="0"/>
          </a:p>
        </p:txBody>
      </p:sp>
      <p:sp>
        <p:nvSpPr>
          <p:cNvPr id="17" name="Shape 15"/>
          <p:cNvSpPr/>
          <p:nvPr/>
        </p:nvSpPr>
        <p:spPr>
          <a:xfrm>
            <a:off x="9107424" y="2468880"/>
            <a:ext cx="2651760" cy="1417320"/>
          </a:xfrm>
          <a:prstGeom prst="roundRect">
            <a:avLst>
              <a:gd name="adj" fmla="val 5161"/>
            </a:avLst>
          </a:prstGeom>
          <a:solidFill>
            <a:srgbClr val="F4F6FB"/>
          </a:solidFill>
          <a:ln w="12700">
            <a:solidFill>
              <a:srgbClr val="E2E8F5"/>
            </a:solidFill>
            <a:prstDash val="solid"/>
          </a:ln>
        </p:spPr>
      </p:sp>
      <p:sp>
        <p:nvSpPr>
          <p:cNvPr id="18" name="Text 16"/>
          <p:cNvSpPr/>
          <p:nvPr/>
        </p:nvSpPr>
        <p:spPr>
          <a:xfrm>
            <a:off x="9244584" y="2606040"/>
            <a:ext cx="2377440" cy="292608"/>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WASTEDLOCKER</a:t>
            </a:r>
            <a:endParaRPr lang="en-US" sz="1250" dirty="0"/>
          </a:p>
        </p:txBody>
      </p:sp>
      <p:sp>
        <p:nvSpPr>
          <p:cNvPr id="19" name="Text 17"/>
          <p:cNvSpPr/>
          <p:nvPr/>
        </p:nvSpPr>
        <p:spPr>
          <a:xfrm>
            <a:off x="9244584" y="2971800"/>
            <a:ext cx="2377440" cy="320040"/>
          </a:xfrm>
          <a:prstGeom prst="rect">
            <a:avLst/>
          </a:prstGeom>
          <a:noFill/>
          <a:ln/>
        </p:spPr>
        <p:txBody>
          <a:bodyPr wrap="square" lIns="0" tIns="0" rIns="0" bIns="0" rtlCol="0" anchor="ctr"/>
          <a:lstStyle/>
          <a:p>
            <a:pPr algn="ctr" indent="0" marL="0">
              <a:buNone/>
            </a:pPr>
            <a:r>
              <a:rPr lang="en-US" sz="1300" dirty="0">
                <a:solidFill>
                  <a:srgbClr val="2E4374"/>
                </a:solidFill>
                <a:latin typeface="Calibri" pitchFamily="34" charset="0"/>
                <a:ea typeface="Calibri" pitchFamily="34" charset="-122"/>
                <a:cs typeface="Calibri" pitchFamily="34" charset="-120"/>
              </a:rPr>
              <a:t>4 notas  →  1 plantilla</a:t>
            </a:r>
            <a:endParaRPr lang="en-US" sz="1300" dirty="0"/>
          </a:p>
        </p:txBody>
      </p:sp>
      <p:sp>
        <p:nvSpPr>
          <p:cNvPr id="20" name="Text 18"/>
          <p:cNvSpPr/>
          <p:nvPr/>
        </p:nvSpPr>
        <p:spPr>
          <a:xfrm>
            <a:off x="9244584" y="3364992"/>
            <a:ext cx="2377440" cy="274320"/>
          </a:xfrm>
          <a:prstGeom prst="rect">
            <a:avLst/>
          </a:prstGeom>
          <a:noFill/>
          <a:ln/>
        </p:spPr>
        <p:txBody>
          <a:bodyPr wrap="square" lIns="0" tIns="0" rIns="0" bIns="0" rtlCol="0" anchor="ctr"/>
          <a:lstStyle/>
          <a:p>
            <a:pPr algn="ctr" indent="0" marL="0">
              <a:buNone/>
            </a:pPr>
            <a:r>
              <a:rPr lang="en-US" sz="1050" i="1" dirty="0">
                <a:solidFill>
                  <a:srgbClr val="A8443C"/>
                </a:solidFill>
                <a:latin typeface="Calibri" pitchFamily="34" charset="0"/>
                <a:ea typeface="Calibri" pitchFamily="34" charset="-122"/>
                <a:cs typeface="Calibri" pitchFamily="34" charset="-120"/>
              </a:rPr>
              <a:t>sin variabilidad</a:t>
            </a:r>
            <a:endParaRPr lang="en-US" sz="1050" dirty="0"/>
          </a:p>
        </p:txBody>
      </p:sp>
      <p:sp>
        <p:nvSpPr>
          <p:cNvPr id="21" name="Shape 19"/>
          <p:cNvSpPr/>
          <p:nvPr/>
        </p:nvSpPr>
        <p:spPr>
          <a:xfrm>
            <a:off x="548640" y="4206240"/>
            <a:ext cx="11064240" cy="1508760"/>
          </a:xfrm>
          <a:prstGeom prst="roundRect">
            <a:avLst>
              <a:gd name="adj" fmla="val 4848"/>
            </a:avLst>
          </a:prstGeom>
          <a:solidFill>
            <a:srgbClr val="FDF6EC"/>
          </a:solidFill>
          <a:ln w="12700">
            <a:solidFill>
              <a:srgbClr val="E2E8F5"/>
            </a:solidFill>
            <a:prstDash val="solid"/>
          </a:ln>
        </p:spPr>
      </p:sp>
      <p:sp>
        <p:nvSpPr>
          <p:cNvPr id="22" name="Text 20"/>
          <p:cNvSpPr/>
          <p:nvPr/>
        </p:nvSpPr>
        <p:spPr>
          <a:xfrm>
            <a:off x="868680" y="4407408"/>
            <a:ext cx="10424160" cy="32004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Responde la consulta planteada en la reunión del 02/05/2024 sobre la variabilidad de las notas.</a:t>
            </a:r>
            <a:endParaRPr lang="en-US" sz="1350" dirty="0"/>
          </a:p>
        </p:txBody>
      </p:sp>
      <p:sp>
        <p:nvSpPr>
          <p:cNvPr id="23" name="Text 21"/>
          <p:cNvSpPr/>
          <p:nvPr/>
        </p:nvSpPr>
        <p:spPr>
          <a:xfrm>
            <a:off x="868680" y="4773168"/>
            <a:ext cx="10424160" cy="777240"/>
          </a:xfrm>
          <a:prstGeom prst="rect">
            <a:avLst/>
          </a:prstGeom>
          <a:noFill/>
          <a:ln/>
        </p:spPr>
        <p:txBody>
          <a:bodyPr wrap="square" lIns="0" tIns="0" rIns="0" bIns="0" rtlCol="0" anchor="ctr"/>
          <a:lstStyle/>
          <a:p>
            <a:pPr indent="0" marL="0">
              <a:lnSpc>
                <a:spcPts val="2000"/>
              </a:lnSpc>
              <a:buNone/>
            </a:pPr>
            <a:r>
              <a:rPr lang="en-US" sz="1300" dirty="0">
                <a:solidFill>
                  <a:srgbClr val="374151"/>
                </a:solidFill>
                <a:latin typeface="Calibri" pitchFamily="34" charset="0"/>
                <a:ea typeface="Calibri" pitchFamily="34" charset="-122"/>
                <a:cs typeface="Calibri" pitchFamily="34" charset="-120"/>
              </a:rPr>
              <a:t>Consecuencia metodológica: la ampliación del corpus debe medirse en plantillas nuevas por familia, no en cantidad de notas. De aquí surgen los dos protocolos de evaluación que se presentan a continuación.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NOTAS DE RESCATE</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Dos protocolos de evaluación</a:t>
            </a:r>
            <a:endParaRPr lang="en-US" sz="3000" dirty="0"/>
          </a:p>
        </p:txBody>
      </p:sp>
      <p:sp>
        <p:nvSpPr>
          <p:cNvPr id="4" name="Shape 2"/>
          <p:cNvSpPr/>
          <p:nvPr/>
        </p:nvSpPr>
        <p:spPr>
          <a:xfrm>
            <a:off x="548640" y="1463040"/>
            <a:ext cx="5394960" cy="4206240"/>
          </a:xfrm>
          <a:prstGeom prst="roundRect">
            <a:avLst>
              <a:gd name="adj" fmla="val 1739"/>
            </a:avLst>
          </a:prstGeom>
          <a:solidFill>
            <a:srgbClr val="F4F6FB"/>
          </a:solidFill>
          <a:ln w="12700">
            <a:solidFill>
              <a:srgbClr val="E2E8F5"/>
            </a:solidFill>
            <a:prstDash val="solid"/>
          </a:ln>
        </p:spPr>
      </p:sp>
      <p:sp>
        <p:nvSpPr>
          <p:cNvPr id="5" name="Text 3"/>
          <p:cNvSpPr/>
          <p:nvPr/>
        </p:nvSpPr>
        <p:spPr>
          <a:xfrm>
            <a:off x="868680" y="1691640"/>
            <a:ext cx="4754880" cy="365760"/>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P1 — plantilla conocida</a:t>
            </a:r>
            <a:endParaRPr lang="en-US" sz="1800" dirty="0"/>
          </a:p>
        </p:txBody>
      </p:sp>
      <p:sp>
        <p:nvSpPr>
          <p:cNvPr id="6" name="Text 4"/>
          <p:cNvSpPr/>
          <p:nvPr/>
        </p:nvSpPr>
        <p:spPr>
          <a:xfrm>
            <a:off x="868680" y="2148840"/>
            <a:ext cx="4754880" cy="914400"/>
          </a:xfrm>
          <a:prstGeom prst="rect">
            <a:avLst/>
          </a:prstGeom>
          <a:noFill/>
          <a:ln/>
        </p:spPr>
        <p:txBody>
          <a:bodyPr wrap="square" lIns="0" tIns="0" rIns="0" bIns="0" rtlCol="0" anchor="ctr"/>
          <a:lstStyle/>
          <a:p>
            <a:pPr indent="0" marL="0">
              <a:lnSpc>
                <a:spcPts val="2000"/>
              </a:lnSpc>
              <a:buNone/>
            </a:pPr>
            <a:r>
              <a:rPr lang="en-US" sz="1300" dirty="0">
                <a:solidFill>
                  <a:srgbClr val="374151"/>
                </a:solidFill>
                <a:latin typeface="Calibri" pitchFamily="34" charset="0"/>
                <a:ea typeface="Calibri" pitchFamily="34" charset="-122"/>
                <a:cs typeface="Calibri" pitchFamily="34" charset="-120"/>
              </a:rPr>
              <a:t>Identificar la familia de una nueva instancia de una plantilla ya catalogada. Es el escenario operativo de las herramientas existentes.</a:t>
            </a:r>
            <a:endParaRPr lang="en-US" sz="1300" dirty="0"/>
          </a:p>
        </p:txBody>
      </p:sp>
      <p:sp>
        <p:nvSpPr>
          <p:cNvPr id="7" name="Text 5"/>
          <p:cNvSpPr/>
          <p:nvPr/>
        </p:nvSpPr>
        <p:spPr>
          <a:xfrm>
            <a:off x="868680" y="3200400"/>
            <a:ext cx="475488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0,760</a:t>
            </a:r>
            <a:endParaRPr lang="en-US" sz="4000" dirty="0"/>
          </a:p>
        </p:txBody>
      </p:sp>
      <p:sp>
        <p:nvSpPr>
          <p:cNvPr id="8" name="Text 6"/>
          <p:cNvSpPr/>
          <p:nvPr/>
        </p:nvSpPr>
        <p:spPr>
          <a:xfrm>
            <a:off x="868680" y="3895344"/>
            <a:ext cx="475488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macro-F1  ·  exactitud 0,818</a:t>
            </a:r>
            <a:endParaRPr lang="en-US" sz="1100" dirty="0"/>
          </a:p>
        </p:txBody>
      </p:sp>
      <p:sp>
        <p:nvSpPr>
          <p:cNvPr id="9" name="Text 7"/>
          <p:cNvSpPr/>
          <p:nvPr/>
        </p:nvSpPr>
        <p:spPr>
          <a:xfrm>
            <a:off x="868680" y="4709160"/>
            <a:ext cx="4754880" cy="731520"/>
          </a:xfrm>
          <a:prstGeom prst="rect">
            <a:avLst/>
          </a:prstGeom>
          <a:noFill/>
          <a:ln/>
        </p:spPr>
        <p:txBody>
          <a:bodyPr wrap="square" lIns="0" tIns="0" rIns="0" bIns="0" rtlCol="0" anchor="ctr"/>
          <a:lstStyle/>
          <a:p>
            <a:pPr algn="ctr" indent="0" marL="0">
              <a:lnSpc>
                <a:spcPts val="1800"/>
              </a:lnSpc>
              <a:buNone/>
            </a:pPr>
            <a:r>
              <a:rPr lang="en-US" sz="1250" b="1" dirty="0">
                <a:solidFill>
                  <a:srgbClr val="3F7D5C"/>
                </a:solidFill>
                <a:latin typeface="Calibri" pitchFamily="34" charset="0"/>
                <a:ea typeface="Calibri" pitchFamily="34" charset="-122"/>
                <a:cs typeface="Calibri" pitchFamily="34" charset="-120"/>
              </a:rPr>
              <a:t>Supera el 71,93 % que obtiene</a:t>
            </a:r>
            <a:endParaRPr lang="en-US" sz="1250" dirty="0"/>
          </a:p>
          <a:p>
            <a:pPr algn="ctr" indent="0" marL="0">
              <a:lnSpc>
                <a:spcPts val="1800"/>
              </a:lnSpc>
              <a:buNone/>
            </a:pPr>
            <a:r>
              <a:rPr lang="en-US" sz="1250" b="1" dirty="0">
                <a:solidFill>
                  <a:srgbClr val="3F7D5C"/>
                </a:solidFill>
                <a:latin typeface="Calibri" pitchFamily="34" charset="0"/>
                <a:ea typeface="Calibri" pitchFamily="34" charset="-122"/>
                <a:cs typeface="Calibri" pitchFamily="34" charset="-120"/>
              </a:rPr>
              <a:t>ID Ransomware con notas</a:t>
            </a:r>
            <a:endParaRPr lang="en-US" sz="1250" dirty="0"/>
          </a:p>
        </p:txBody>
      </p:sp>
      <p:sp>
        <p:nvSpPr>
          <p:cNvPr id="10" name="Shape 8"/>
          <p:cNvSpPr/>
          <p:nvPr/>
        </p:nvSpPr>
        <p:spPr>
          <a:xfrm>
            <a:off x="6217920" y="1463040"/>
            <a:ext cx="5394960" cy="4206240"/>
          </a:xfrm>
          <a:prstGeom prst="roundRect">
            <a:avLst>
              <a:gd name="adj" fmla="val 1739"/>
            </a:avLst>
          </a:prstGeom>
          <a:solidFill>
            <a:srgbClr val="F4F6FB"/>
          </a:solidFill>
          <a:ln w="12700">
            <a:solidFill>
              <a:srgbClr val="E2E8F5"/>
            </a:solidFill>
            <a:prstDash val="solid"/>
          </a:ln>
        </p:spPr>
      </p:sp>
      <p:sp>
        <p:nvSpPr>
          <p:cNvPr id="11" name="Text 9"/>
          <p:cNvSpPr/>
          <p:nvPr/>
        </p:nvSpPr>
        <p:spPr>
          <a:xfrm>
            <a:off x="6537960" y="1691640"/>
            <a:ext cx="4754880" cy="365760"/>
          </a:xfrm>
          <a:prstGeom prst="rect">
            <a:avLst/>
          </a:prstGeom>
          <a:noFill/>
          <a:ln/>
        </p:spPr>
        <p:txBody>
          <a:bodyPr wrap="square" lIns="0" tIns="0" rIns="0" bIns="0" rtlCol="0" anchor="ctr"/>
          <a:lstStyle/>
          <a:p>
            <a:pPr indent="0" marL="0">
              <a:buNone/>
            </a:pPr>
            <a:r>
              <a:rPr lang="en-US" sz="1800" b="1" dirty="0">
                <a:solidFill>
                  <a:srgbClr val="16233F"/>
                </a:solidFill>
                <a:latin typeface="Cambria" pitchFamily="34" charset="0"/>
                <a:ea typeface="Cambria" pitchFamily="34" charset="-122"/>
                <a:cs typeface="Cambria" pitchFamily="34" charset="-120"/>
              </a:rPr>
              <a:t>P2 — variante nunca vista</a:t>
            </a:r>
            <a:endParaRPr lang="en-US" sz="1800" dirty="0"/>
          </a:p>
        </p:txBody>
      </p:sp>
      <p:sp>
        <p:nvSpPr>
          <p:cNvPr id="12" name="Text 10"/>
          <p:cNvSpPr/>
          <p:nvPr/>
        </p:nvSpPr>
        <p:spPr>
          <a:xfrm>
            <a:off x="6537960" y="2148840"/>
            <a:ext cx="4754880" cy="914400"/>
          </a:xfrm>
          <a:prstGeom prst="rect">
            <a:avLst/>
          </a:prstGeom>
          <a:noFill/>
          <a:ln/>
        </p:spPr>
        <p:txBody>
          <a:bodyPr wrap="square" lIns="0" tIns="0" rIns="0" bIns="0" rtlCol="0" anchor="ctr"/>
          <a:lstStyle/>
          <a:p>
            <a:pPr indent="0" marL="0">
              <a:lnSpc>
                <a:spcPts val="2000"/>
              </a:lnSpc>
              <a:buNone/>
            </a:pPr>
            <a:r>
              <a:rPr lang="en-US" sz="1300" dirty="0">
                <a:solidFill>
                  <a:srgbClr val="374151"/>
                </a:solidFill>
                <a:latin typeface="Calibri" pitchFamily="34" charset="0"/>
                <a:ea typeface="Calibri" pitchFamily="34" charset="-122"/>
                <a:cs typeface="Calibri" pitchFamily="34" charset="-120"/>
              </a:rPr>
              <a:t>Las plantillas casi idénticas nunca se reparten entre entrenamiento y prueba: se mide la generalización a contenido nuevo.</a:t>
            </a:r>
            <a:endParaRPr lang="en-US" sz="1300" dirty="0"/>
          </a:p>
        </p:txBody>
      </p:sp>
      <p:sp>
        <p:nvSpPr>
          <p:cNvPr id="13" name="Text 11"/>
          <p:cNvSpPr/>
          <p:nvPr/>
        </p:nvSpPr>
        <p:spPr>
          <a:xfrm>
            <a:off x="6537960" y="3200400"/>
            <a:ext cx="4754880" cy="713232"/>
          </a:xfrm>
          <a:prstGeom prst="rect">
            <a:avLst/>
          </a:prstGeom>
          <a:noFill/>
          <a:ln/>
        </p:spPr>
        <p:txBody>
          <a:bodyPr wrap="square" lIns="0" tIns="0" rIns="0" bIns="0" rtlCol="0" anchor="ctr"/>
          <a:lstStyle/>
          <a:p>
            <a:pPr algn="ctr" indent="0" marL="0">
              <a:buNone/>
            </a:pPr>
            <a:r>
              <a:rPr lang="en-US" sz="4000" b="1" dirty="0">
                <a:solidFill>
                  <a:srgbClr val="2E4374"/>
                </a:solidFill>
                <a:latin typeface="Cambria" pitchFamily="34" charset="0"/>
                <a:ea typeface="Cambria" pitchFamily="34" charset="-122"/>
                <a:cs typeface="Cambria" pitchFamily="34" charset="-120"/>
              </a:rPr>
              <a:t>0,435</a:t>
            </a:r>
            <a:endParaRPr lang="en-US" sz="4000" dirty="0"/>
          </a:p>
        </p:txBody>
      </p:sp>
      <p:sp>
        <p:nvSpPr>
          <p:cNvPr id="14" name="Text 12"/>
          <p:cNvSpPr/>
          <p:nvPr/>
        </p:nvSpPr>
        <p:spPr>
          <a:xfrm>
            <a:off x="6537960" y="3895344"/>
            <a:ext cx="475488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macro-F1  ·  exactitud 0,551</a:t>
            </a:r>
            <a:endParaRPr lang="en-US" sz="1100" dirty="0"/>
          </a:p>
        </p:txBody>
      </p:sp>
      <p:sp>
        <p:nvSpPr>
          <p:cNvPr id="15" name="Text 13"/>
          <p:cNvSpPr/>
          <p:nvPr/>
        </p:nvSpPr>
        <p:spPr>
          <a:xfrm>
            <a:off x="6537960" y="4709160"/>
            <a:ext cx="4754880" cy="731520"/>
          </a:xfrm>
          <a:prstGeom prst="rect">
            <a:avLst/>
          </a:prstGeom>
          <a:noFill/>
          <a:ln/>
        </p:spPr>
        <p:txBody>
          <a:bodyPr wrap="square" lIns="0" tIns="0" rIns="0" bIns="0" rtlCol="0" anchor="ctr"/>
          <a:lstStyle/>
          <a:p>
            <a:pPr algn="ctr" indent="0" marL="0">
              <a:lnSpc>
                <a:spcPts val="1800"/>
              </a:lnSpc>
              <a:buNone/>
            </a:pPr>
            <a:r>
              <a:rPr lang="en-US" sz="1250" b="1" dirty="0">
                <a:solidFill>
                  <a:srgbClr val="2E4374"/>
                </a:solidFill>
                <a:latin typeface="Calibri" pitchFamily="34" charset="0"/>
                <a:ea typeface="Calibri" pitchFamily="34" charset="-122"/>
                <a:cs typeface="Calibri" pitchFamily="34" charset="-120"/>
              </a:rPr>
              <a:t>13 veces el azar (0,033)</a:t>
            </a:r>
            <a:endParaRPr lang="en-US" sz="1250" dirty="0"/>
          </a:p>
          <a:p>
            <a:pPr algn="ctr" indent="0" marL="0">
              <a:lnSpc>
                <a:spcPts val="1800"/>
              </a:lnSpc>
              <a:buNone/>
            </a:pPr>
            <a:r>
              <a:rPr lang="en-US" sz="1250" b="1" dirty="0">
                <a:solidFill>
                  <a:srgbClr val="2E4374"/>
                </a:solidFill>
                <a:latin typeface="Calibri" pitchFamily="34" charset="0"/>
                <a:ea typeface="Calibri" pitchFamily="34" charset="-122"/>
                <a:cs typeface="Calibri" pitchFamily="34" charset="-120"/>
              </a:rPr>
              <a:t>sobre 30 familias</a:t>
            </a:r>
            <a:endParaRPr lang="en-US" sz="1250" dirty="0"/>
          </a:p>
        </p:txBody>
      </p:sp>
      <p:sp>
        <p:nvSpPr>
          <p:cNvPr id="16" name="Text 14"/>
          <p:cNvSpPr/>
          <p:nvPr/>
        </p:nvSpPr>
        <p:spPr>
          <a:xfrm>
            <a:off x="548640" y="5760720"/>
            <a:ext cx="11064240" cy="640080"/>
          </a:xfrm>
          <a:prstGeom prst="rect">
            <a:avLst/>
          </a:prstGeom>
          <a:noFill/>
          <a:ln/>
        </p:spPr>
        <p:txBody>
          <a:bodyPr wrap="square" lIns="0" tIns="0" rIns="0" bIns="0" rtlCol="0" anchor="ctr"/>
          <a:lstStyle/>
          <a:p>
            <a:pPr algn="ctr" indent="0" marL="0">
              <a:lnSpc>
                <a:spcPts val="1900"/>
              </a:lnSpc>
              <a:buNone/>
            </a:pPr>
            <a:r>
              <a:rPr lang="en-US" sz="1250" i="1" dirty="0">
                <a:solidFill>
                  <a:srgbClr val="6B7280"/>
                </a:solidFill>
                <a:latin typeface="Calibri" pitchFamily="34" charset="0"/>
                <a:ea typeface="Calibri" pitchFamily="34" charset="-122"/>
                <a:cs typeface="Calibri" pitchFamily="34" charset="-120"/>
              </a:rPr>
              <a:t>146 notas · 30 familias · validación cruzada de 2 particiones repetida con 10 semillas.</a:t>
            </a:r>
            <a:endParaRPr lang="en-US" sz="1250" dirty="0"/>
          </a:p>
          <a:p>
            <a:pPr algn="ctr" indent="0" marL="0">
              <a:lnSpc>
                <a:spcPts val="1900"/>
              </a:lnSpc>
              <a:buNone/>
            </a:pPr>
            <a:r>
              <a:rPr lang="en-US" sz="1250" i="1" dirty="0">
                <a:solidFill>
                  <a:srgbClr val="6B7280"/>
                </a:solidFill>
                <a:latin typeface="Calibri" pitchFamily="34" charset="0"/>
                <a:ea typeface="Calibri" pitchFamily="34" charset="-122"/>
                <a:cs typeface="Calibri" pitchFamily="34" charset="-120"/>
              </a:rPr>
              <a:t>La diferencia entre ambos cuantifica cuánto del desempeño proviene de reconocer plantillas ya vistas.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822960" y="2148840"/>
            <a:ext cx="1828800" cy="1188720"/>
          </a:xfrm>
          <a:prstGeom prst="rect">
            <a:avLst/>
          </a:prstGeom>
          <a:noFill/>
          <a:ln/>
        </p:spPr>
        <p:txBody>
          <a:bodyPr wrap="square" lIns="0" tIns="0" rIns="0" bIns="0" rtlCol="0" anchor="ctr"/>
          <a:lstStyle/>
          <a:p>
            <a:pPr indent="0" marL="0">
              <a:buNone/>
            </a:pPr>
            <a:r>
              <a:rPr lang="en-US" sz="7600" b="1" dirty="0">
                <a:solidFill>
                  <a:srgbClr val="E8A33D"/>
                </a:solidFill>
                <a:latin typeface="Cambria" pitchFamily="34" charset="0"/>
                <a:ea typeface="Cambria" pitchFamily="34" charset="-122"/>
                <a:cs typeface="Cambria" pitchFamily="34" charset="-120"/>
              </a:rPr>
              <a:t>2</a:t>
            </a:r>
            <a:endParaRPr lang="en-US" sz="7600" dirty="0"/>
          </a:p>
        </p:txBody>
      </p:sp>
      <p:sp>
        <p:nvSpPr>
          <p:cNvPr id="3" name="Text 1"/>
          <p:cNvSpPr/>
          <p:nvPr/>
        </p:nvSpPr>
        <p:spPr>
          <a:xfrm>
            <a:off x="2834640" y="2286000"/>
            <a:ext cx="85039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Archivos cifrados</a:t>
            </a:r>
            <a:endParaRPr lang="en-US" sz="3600" dirty="0"/>
          </a:p>
        </p:txBody>
      </p:sp>
      <p:sp>
        <p:nvSpPr>
          <p:cNvPr id="4" name="Text 2"/>
          <p:cNvSpPr/>
          <p:nvPr/>
        </p:nvSpPr>
        <p:spPr>
          <a:xfrm>
            <a:off x="2880360" y="3200400"/>
            <a:ext cx="8229600" cy="731520"/>
          </a:xfrm>
          <a:prstGeom prst="rect">
            <a:avLst/>
          </a:prstGeom>
          <a:noFill/>
          <a:ln/>
        </p:spPr>
        <p:txBody>
          <a:bodyPr wrap="square" lIns="0" tIns="0" rIns="0" bIns="0" rtlCol="0" anchor="ctr"/>
          <a:lstStyle/>
          <a:p>
            <a:pPr indent="0" marL="0">
              <a:lnSpc>
                <a:spcPts val="2300"/>
              </a:lnSpc>
              <a:buNone/>
            </a:pPr>
            <a:r>
              <a:rPr lang="en-US" sz="1500" dirty="0">
                <a:solidFill>
                  <a:srgbClr val="D6E0F5"/>
                </a:solidFill>
                <a:latin typeface="Calibri" pitchFamily="34" charset="0"/>
                <a:ea typeface="Calibri" pitchFamily="34" charset="-122"/>
                <a:cs typeface="Calibri" pitchFamily="34" charset="-120"/>
              </a:rPr>
              <a:t>Clasificación de la familia a partir de los archivos que el ransomware deja cifrados en el sistema. Es el único artefacto cuya presencia está garantizada.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ARCHIVOS CIFRADOS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El Objetivo 2 debe reformularse</a:t>
            </a:r>
            <a:endParaRPr lang="en-US" sz="3000" dirty="0"/>
          </a:p>
        </p:txBody>
      </p:sp>
      <p:sp>
        <p:nvSpPr>
          <p:cNvPr id="4" name="Text 2"/>
          <p:cNvSpPr/>
          <p:nvPr/>
        </p:nvSpPr>
        <p:spPr>
          <a:xfrm>
            <a:off x="548640" y="1463040"/>
            <a:ext cx="6035040" cy="1005840"/>
          </a:xfrm>
          <a:prstGeom prst="rect">
            <a:avLst/>
          </a:prstGeom>
          <a:noFill/>
          <a:ln/>
        </p:spPr>
        <p:txBody>
          <a:bodyPr wrap="square" lIns="0" tIns="0" rIns="0" bIns="0" rtlCol="0" anchor="ctr"/>
          <a:lstStyle/>
          <a:p>
            <a:pPr indent="0" marL="0">
              <a:lnSpc>
                <a:spcPts val="2300"/>
              </a:lnSpc>
              <a:buNone/>
            </a:pPr>
            <a:r>
              <a:rPr lang="en-US" sz="1450" dirty="0">
                <a:solidFill>
                  <a:srgbClr val="374151"/>
                </a:solidFill>
                <a:latin typeface="Calibri" pitchFamily="34" charset="0"/>
                <a:ea typeface="Calibri" pitchFamily="34" charset="-122"/>
                <a:cs typeface="Calibri" pitchFamily="34" charset="-120"/>
              </a:rPr>
              <a:t>El resultado de 9,9 % se obtuvo con dos características (entropía global y tamaño) sobre 1.600 archivos. Al ampliar a 275 características sobre los 29.029 archivos de NapierOne, la exactitud asciende a 0,603.</a:t>
            </a:r>
            <a:endParaRPr lang="en-US" sz="1450" dirty="0"/>
          </a:p>
        </p:txBody>
      </p:sp>
      <p:sp>
        <p:nvSpPr>
          <p:cNvPr id="5" name="Text 3"/>
          <p:cNvSpPr/>
          <p:nvPr/>
        </p:nvSpPr>
        <p:spPr>
          <a:xfrm>
            <a:off x="548640" y="2606040"/>
            <a:ext cx="6035040" cy="32004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Las características más discriminativas no miden la calidad del cifrado:</a:t>
            </a:r>
            <a:endParaRPr lang="en-US" sz="1350" dirty="0"/>
          </a:p>
        </p:txBody>
      </p:sp>
      <p:sp>
        <p:nvSpPr>
          <p:cNvPr id="6" name="Text 4"/>
          <p:cNvSpPr/>
          <p:nvPr/>
        </p:nvSpPr>
        <p:spPr>
          <a:xfrm>
            <a:off x="777240" y="2999232"/>
            <a:ext cx="5852160" cy="1188720"/>
          </a:xfrm>
          <a:prstGeom prst="rect">
            <a:avLst/>
          </a:prstGeom>
          <a:noFill/>
          <a:ln/>
        </p:spPr>
        <p:txBody>
          <a:bodyPr wrap="square" lIns="0" tIns="0" rIns="0" bIns="0" rtlCol="0" anchor="ctr"/>
          <a:lstStyle/>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longest_run — racha más larga de bytes repetidos</a:t>
            </a:r>
            <a:endParaRPr lang="en-US" sz="1250" dirty="0"/>
          </a:p>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entropy_diff_hf — diferencia de entropía cabecera-cola</a:t>
            </a:r>
            <a:endParaRPr lang="en-US" sz="1250" dirty="0"/>
          </a:p>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entropy_footer / entropy_header — entropía por región</a:t>
            </a:r>
            <a:endParaRPr lang="en-US" sz="1250" dirty="0"/>
          </a:p>
          <a:p>
            <a:pPr marL="342900" indent="-342900">
              <a:lnSpc>
                <a:spcPts val="1900"/>
              </a:lnSpc>
              <a:buSzPct val="100000"/>
              <a:buChar char="•"/>
            </a:pPr>
            <a:r>
              <a:rPr lang="en-US" sz="1250" dirty="0">
                <a:solidFill>
                  <a:srgbClr val="374151"/>
                </a:solidFill>
                <a:latin typeface="Calibri" pitchFamily="34" charset="0"/>
                <a:ea typeface="Calibri" pitchFamily="34" charset="-122"/>
                <a:cs typeface="Calibri" pitchFamily="34" charset="-120"/>
              </a:rPr>
              <a:t>zero_ratio — proporción de bytes nulos</a:t>
            </a:r>
            <a:endParaRPr lang="en-US" sz="1250" dirty="0"/>
          </a:p>
        </p:txBody>
      </p:sp>
      <p:sp>
        <p:nvSpPr>
          <p:cNvPr id="7" name="Text 5"/>
          <p:cNvSpPr/>
          <p:nvPr/>
        </p:nvSpPr>
        <p:spPr>
          <a:xfrm>
            <a:off x="548640" y="4343400"/>
            <a:ext cx="6035040" cy="548640"/>
          </a:xfrm>
          <a:prstGeom prst="rect">
            <a:avLst/>
          </a:prstGeom>
          <a:noFill/>
          <a:ln/>
        </p:spPr>
        <p:txBody>
          <a:bodyPr wrap="square" lIns="0" tIns="0" rIns="0" bIns="0" rtlCol="0" anchor="ctr"/>
          <a:lstStyle/>
          <a:p>
            <a:pPr indent="0" marL="0">
              <a:lnSpc>
                <a:spcPts val="2000"/>
              </a:lnSpc>
              <a:buNone/>
            </a:pPr>
            <a:r>
              <a:rPr lang="en-US" sz="1300" i="1" dirty="0">
                <a:solidFill>
                  <a:srgbClr val="2E4374"/>
                </a:solidFill>
                <a:latin typeface="Calibri" pitchFamily="34" charset="0"/>
                <a:ea typeface="Calibri" pitchFamily="34" charset="-122"/>
                <a:cs typeface="Calibri" pitchFamily="34" charset="-120"/>
              </a:rPr>
              <a:t>Todas miden la presencia de datos no aleatorios dentro de un archivo por lo demás aleatorio.</a:t>
            </a:r>
            <a:endParaRPr lang="en-US" sz="1300" dirty="0"/>
          </a:p>
        </p:txBody>
      </p:sp>
      <p:sp>
        <p:nvSpPr>
          <p:cNvPr id="8" name="Shape 6"/>
          <p:cNvSpPr/>
          <p:nvPr/>
        </p:nvSpPr>
        <p:spPr>
          <a:xfrm>
            <a:off x="6949440" y="1463040"/>
            <a:ext cx="4663440" cy="4434840"/>
          </a:xfrm>
          <a:prstGeom prst="roundRect">
            <a:avLst>
              <a:gd name="adj" fmla="val 1649"/>
            </a:avLst>
          </a:prstGeom>
          <a:solidFill>
            <a:srgbClr val="16233F"/>
          </a:solidFill>
          <a:ln w="12700">
            <a:solidFill>
              <a:srgbClr val="E2E8F5"/>
            </a:solidFill>
            <a:prstDash val="solid"/>
          </a:ln>
        </p:spPr>
      </p:sp>
      <p:sp>
        <p:nvSpPr>
          <p:cNvPr id="9" name="Text 7"/>
          <p:cNvSpPr/>
          <p:nvPr/>
        </p:nvSpPr>
        <p:spPr>
          <a:xfrm>
            <a:off x="7269480" y="1691640"/>
            <a:ext cx="4023360" cy="32004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Formulación corregida</a:t>
            </a:r>
            <a:endParaRPr lang="en-US" sz="1200" dirty="0"/>
          </a:p>
        </p:txBody>
      </p:sp>
      <p:sp>
        <p:nvSpPr>
          <p:cNvPr id="10" name="Text 8"/>
          <p:cNvSpPr/>
          <p:nvPr/>
        </p:nvSpPr>
        <p:spPr>
          <a:xfrm>
            <a:off x="7269480" y="2148840"/>
            <a:ext cx="4023360" cy="2103120"/>
          </a:xfrm>
          <a:prstGeom prst="rect">
            <a:avLst/>
          </a:prstGeom>
          <a:noFill/>
          <a:ln/>
        </p:spPr>
        <p:txBody>
          <a:bodyPr wrap="square" lIns="0" tIns="0" rIns="0" bIns="0" rtlCol="0" anchor="ctr"/>
          <a:lstStyle/>
          <a:p>
            <a:pPr indent="0" marL="0">
              <a:lnSpc>
                <a:spcPts val="2300"/>
              </a:lnSpc>
              <a:buNone/>
            </a:pPr>
            <a:r>
              <a:rPr lang="en-US" sz="1400" dirty="0">
                <a:solidFill>
                  <a:srgbClr val="FFFFFF"/>
                </a:solidFill>
                <a:latin typeface="Calibri" pitchFamily="34" charset="0"/>
                <a:ea typeface="Calibri" pitchFamily="34" charset="-122"/>
                <a:cs typeface="Calibri" pitchFamily="34" charset="-120"/>
              </a:rPr>
              <a:t>La información que distingue familias no reside en las propiedades criptográficas del contenido —que son, en efecto, indistinguibles— sino en la estructura del archivo: en los artefactos no aleatorios que cada familia añade.</a:t>
            </a:r>
            <a:endParaRPr lang="en-US" sz="1400" dirty="0"/>
          </a:p>
        </p:txBody>
      </p:sp>
      <p:sp>
        <p:nvSpPr>
          <p:cNvPr id="11" name="Text 9"/>
          <p:cNvSpPr/>
          <p:nvPr/>
        </p:nvSpPr>
        <p:spPr>
          <a:xfrm>
            <a:off x="7269480" y="4480560"/>
            <a:ext cx="4023360" cy="731520"/>
          </a:xfrm>
          <a:prstGeom prst="rect">
            <a:avLst/>
          </a:prstGeom>
          <a:noFill/>
          <a:ln/>
        </p:spPr>
        <p:txBody>
          <a:bodyPr wrap="square" lIns="0" tIns="0" rIns="0" bIns="0" rtlCol="0" anchor="ctr"/>
          <a:lstStyle/>
          <a:p>
            <a:pPr indent="0" marL="0">
              <a:lnSpc>
                <a:spcPts val="2100"/>
              </a:lnSpc>
              <a:buNone/>
            </a:pPr>
            <a:r>
              <a:rPr lang="en-US" sz="1300" b="1" dirty="0">
                <a:solidFill>
                  <a:srgbClr val="D6E0F5"/>
                </a:solidFill>
                <a:latin typeface="Calibri" pitchFamily="34" charset="0"/>
                <a:ea typeface="Calibri" pitchFamily="34" charset="-122"/>
                <a:cs typeface="Calibri" pitchFamily="34" charset="-120"/>
              </a:rPr>
              <a:t>Medida globalmente: 0,166</a:t>
            </a:r>
            <a:endParaRPr lang="en-US" sz="1300" dirty="0"/>
          </a:p>
          <a:p>
            <a:pPr indent="0" marL="0">
              <a:lnSpc>
                <a:spcPts val="2100"/>
              </a:lnSpc>
              <a:buNone/>
            </a:pPr>
            <a:r>
              <a:rPr lang="en-US" sz="1300" b="1" dirty="0">
                <a:solidFill>
                  <a:srgbClr val="D6E0F5"/>
                </a:solidFill>
                <a:latin typeface="Calibri" pitchFamily="34" charset="0"/>
                <a:ea typeface="Calibri" pitchFamily="34" charset="-122"/>
                <a:cs typeface="Calibri" pitchFamily="34" charset="-120"/>
              </a:rPr>
              <a:t>Medida por regiones: 0,603</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EXPERIMENTO 2b</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Las familias marcan sus propios archivos</a:t>
            </a:r>
            <a:endParaRPr lang="en-US" sz="3000" dirty="0"/>
          </a:p>
        </p:txBody>
      </p:sp>
      <p:sp>
        <p:nvSpPr>
          <p:cNvPr id="4" name="Text 2"/>
          <p:cNvSpPr/>
          <p:nvPr/>
        </p:nvSpPr>
        <p:spPr>
          <a:xfrm>
            <a:off x="548640" y="1463040"/>
            <a:ext cx="11064240" cy="685800"/>
          </a:xfrm>
          <a:prstGeom prst="rect">
            <a:avLst/>
          </a:prstGeom>
          <a:noFill/>
          <a:ln/>
        </p:spPr>
        <p:txBody>
          <a:bodyPr wrap="square" lIns="0" tIns="0" rIns="0" bIns="0" rtlCol="0" anchor="ctr"/>
          <a:lstStyle/>
          <a:p>
            <a:pPr indent="0" marL="0">
              <a:lnSpc>
                <a:spcPts val="2300"/>
              </a:lnSpc>
              <a:buNone/>
            </a:pPr>
            <a:r>
              <a:rPr lang="en-US" sz="1450" dirty="0">
                <a:solidFill>
                  <a:srgbClr val="374151"/>
                </a:solidFill>
                <a:latin typeface="Calibri" pitchFamily="34" charset="0"/>
                <a:ea typeface="Calibri" pitchFamily="34" charset="-122"/>
                <a:cs typeface="Calibri" pitchFamily="34" charset="-120"/>
              </a:rPr>
              <a:t>El procedimiento descubre automáticamente, sin catálogo previo, el prefijo y el sufijo binario común a los archivos de cada familia. Evaluado sobre 1.450 archivos (50 por familia), detectó marcas en 25 de 29 familias.</a:t>
            </a:r>
            <a:endParaRPr lang="en-US" sz="1450" dirty="0"/>
          </a:p>
        </p:txBody>
      </p:sp>
      <p:sp>
        <p:nvSpPr>
          <p:cNvPr id="5" name="Shape 3"/>
          <p:cNvSpPr/>
          <p:nvPr/>
        </p:nvSpPr>
        <p:spPr>
          <a:xfrm>
            <a:off x="548640" y="2377440"/>
            <a:ext cx="6858000" cy="749808"/>
          </a:xfrm>
          <a:prstGeom prst="roundRect">
            <a:avLst>
              <a:gd name="adj" fmla="val 9756"/>
            </a:avLst>
          </a:prstGeom>
          <a:solidFill>
            <a:srgbClr val="F4F6FB"/>
          </a:solidFill>
          <a:ln w="12700">
            <a:solidFill>
              <a:srgbClr val="E2E8F5"/>
            </a:solidFill>
            <a:prstDash val="solid"/>
          </a:ln>
        </p:spPr>
      </p:sp>
      <p:sp>
        <p:nvSpPr>
          <p:cNvPr id="6" name="Text 4"/>
          <p:cNvSpPr/>
          <p:nvPr/>
        </p:nvSpPr>
        <p:spPr>
          <a:xfrm>
            <a:off x="777240" y="2596896"/>
            <a:ext cx="1737360" cy="32004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WANNACRY</a:t>
            </a:r>
            <a:endParaRPr lang="en-US" sz="1300" dirty="0"/>
          </a:p>
        </p:txBody>
      </p:sp>
      <p:sp>
        <p:nvSpPr>
          <p:cNvPr id="7" name="Text 5"/>
          <p:cNvSpPr/>
          <p:nvPr/>
        </p:nvSpPr>
        <p:spPr>
          <a:xfrm>
            <a:off x="2560320" y="2615184"/>
            <a:ext cx="2834640" cy="292608"/>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57 41 4E 41 43 52 59 21</a:t>
            </a:r>
            <a:endParaRPr lang="en-US" sz="1150" dirty="0"/>
          </a:p>
        </p:txBody>
      </p:sp>
      <p:sp>
        <p:nvSpPr>
          <p:cNvPr id="8" name="Text 6"/>
          <p:cNvSpPr/>
          <p:nvPr/>
        </p:nvSpPr>
        <p:spPr>
          <a:xfrm>
            <a:off x="5486400" y="2596896"/>
            <a:ext cx="173736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«WANACRY!»</a:t>
            </a:r>
            <a:endParaRPr lang="en-US" sz="1300" dirty="0"/>
          </a:p>
        </p:txBody>
      </p:sp>
      <p:sp>
        <p:nvSpPr>
          <p:cNvPr id="9" name="Shape 7"/>
          <p:cNvSpPr/>
          <p:nvPr/>
        </p:nvSpPr>
        <p:spPr>
          <a:xfrm>
            <a:off x="548640" y="3273552"/>
            <a:ext cx="6858000" cy="749808"/>
          </a:xfrm>
          <a:prstGeom prst="roundRect">
            <a:avLst>
              <a:gd name="adj" fmla="val 9756"/>
            </a:avLst>
          </a:prstGeom>
          <a:solidFill>
            <a:srgbClr val="F4F6FB"/>
          </a:solidFill>
          <a:ln w="12700">
            <a:solidFill>
              <a:srgbClr val="E2E8F5"/>
            </a:solidFill>
            <a:prstDash val="solid"/>
          </a:ln>
        </p:spPr>
      </p:sp>
      <p:sp>
        <p:nvSpPr>
          <p:cNvPr id="10" name="Text 8"/>
          <p:cNvSpPr/>
          <p:nvPr/>
        </p:nvSpPr>
        <p:spPr>
          <a:xfrm>
            <a:off x="777240" y="3493008"/>
            <a:ext cx="1737360" cy="32004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CUBA</a:t>
            </a:r>
            <a:endParaRPr lang="en-US" sz="1300" dirty="0"/>
          </a:p>
        </p:txBody>
      </p:sp>
      <p:sp>
        <p:nvSpPr>
          <p:cNvPr id="11" name="Text 9"/>
          <p:cNvSpPr/>
          <p:nvPr/>
        </p:nvSpPr>
        <p:spPr>
          <a:xfrm>
            <a:off x="2560320" y="3511296"/>
            <a:ext cx="2834640" cy="292608"/>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46 49 44 45 4C 2E 43 41</a:t>
            </a:r>
            <a:endParaRPr lang="en-US" sz="1150" dirty="0"/>
          </a:p>
        </p:txBody>
      </p:sp>
      <p:sp>
        <p:nvSpPr>
          <p:cNvPr id="12" name="Text 10"/>
          <p:cNvSpPr/>
          <p:nvPr/>
        </p:nvSpPr>
        <p:spPr>
          <a:xfrm>
            <a:off x="5486400" y="3493008"/>
            <a:ext cx="173736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«FIDEL.CA»</a:t>
            </a:r>
            <a:endParaRPr lang="en-US" sz="1300" dirty="0"/>
          </a:p>
        </p:txBody>
      </p:sp>
      <p:sp>
        <p:nvSpPr>
          <p:cNvPr id="13" name="Shape 11"/>
          <p:cNvSpPr/>
          <p:nvPr/>
        </p:nvSpPr>
        <p:spPr>
          <a:xfrm>
            <a:off x="548640" y="4169664"/>
            <a:ext cx="6858000" cy="749808"/>
          </a:xfrm>
          <a:prstGeom prst="roundRect">
            <a:avLst>
              <a:gd name="adj" fmla="val 9756"/>
            </a:avLst>
          </a:prstGeom>
          <a:solidFill>
            <a:srgbClr val="F4F6FB"/>
          </a:solidFill>
          <a:ln w="12700">
            <a:solidFill>
              <a:srgbClr val="E2E8F5"/>
            </a:solidFill>
            <a:prstDash val="solid"/>
          </a:ln>
        </p:spPr>
      </p:sp>
      <p:sp>
        <p:nvSpPr>
          <p:cNvPr id="14" name="Text 12"/>
          <p:cNvSpPr/>
          <p:nvPr/>
        </p:nvSpPr>
        <p:spPr>
          <a:xfrm>
            <a:off x="777240" y="4389120"/>
            <a:ext cx="1737360" cy="32004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PHOBOS</a:t>
            </a:r>
            <a:endParaRPr lang="en-US" sz="1300" dirty="0"/>
          </a:p>
        </p:txBody>
      </p:sp>
      <p:sp>
        <p:nvSpPr>
          <p:cNvPr id="15" name="Text 13"/>
          <p:cNvSpPr/>
          <p:nvPr/>
        </p:nvSpPr>
        <p:spPr>
          <a:xfrm>
            <a:off x="2560320" y="4407408"/>
            <a:ext cx="2834640" cy="292608"/>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4C 4F 43 4B 39 36</a:t>
            </a:r>
            <a:endParaRPr lang="en-US" sz="1150" dirty="0"/>
          </a:p>
        </p:txBody>
      </p:sp>
      <p:sp>
        <p:nvSpPr>
          <p:cNvPr id="16" name="Text 14"/>
          <p:cNvSpPr/>
          <p:nvPr/>
        </p:nvSpPr>
        <p:spPr>
          <a:xfrm>
            <a:off x="5486400" y="4389120"/>
            <a:ext cx="173736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«LOCK96»</a:t>
            </a:r>
            <a:endParaRPr lang="en-US" sz="1300" dirty="0"/>
          </a:p>
        </p:txBody>
      </p:sp>
      <p:sp>
        <p:nvSpPr>
          <p:cNvPr id="17" name="Text 15"/>
          <p:cNvSpPr/>
          <p:nvPr/>
        </p:nvSpPr>
        <p:spPr>
          <a:xfrm>
            <a:off x="548640" y="5120640"/>
            <a:ext cx="6858000" cy="457200"/>
          </a:xfrm>
          <a:prstGeom prst="rect">
            <a:avLst/>
          </a:prstGeom>
          <a:noFill/>
          <a:ln/>
        </p:spPr>
        <p:txBody>
          <a:bodyPr wrap="square" lIns="0" tIns="0" rIns="0" bIns="0" rtlCol="0" anchor="ctr"/>
          <a:lstStyle/>
          <a:p>
            <a:pPr indent="0" marL="0">
              <a:lnSpc>
                <a:spcPts val="1900"/>
              </a:lnSpc>
              <a:buNone/>
            </a:pPr>
            <a:r>
              <a:rPr lang="en-US" sz="1250" i="1" dirty="0">
                <a:solidFill>
                  <a:srgbClr val="6B7280"/>
                </a:solidFill>
                <a:latin typeface="Calibri" pitchFamily="34" charset="0"/>
                <a:ea typeface="Calibri" pitchFamily="34" charset="-122"/>
                <a:cs typeface="Calibri" pitchFamily="34" charset="-120"/>
              </a:rPr>
              <a:t>Firmas legibles como texto, escritas por el propio programa para reconocer lo que ya cifró.</a:t>
            </a:r>
            <a:endParaRPr lang="en-US" sz="1250" dirty="0"/>
          </a:p>
        </p:txBody>
      </p:sp>
      <p:sp>
        <p:nvSpPr>
          <p:cNvPr id="18" name="Shape 16"/>
          <p:cNvSpPr/>
          <p:nvPr/>
        </p:nvSpPr>
        <p:spPr>
          <a:xfrm>
            <a:off x="7680960" y="2377440"/>
            <a:ext cx="3931920" cy="3246120"/>
          </a:xfrm>
          <a:prstGeom prst="roundRect">
            <a:avLst>
              <a:gd name="adj" fmla="val 2254"/>
            </a:avLst>
          </a:prstGeom>
          <a:solidFill>
            <a:srgbClr val="FDF6EC"/>
          </a:solidFill>
          <a:ln w="12700">
            <a:solidFill>
              <a:srgbClr val="E2E8F5"/>
            </a:solidFill>
            <a:prstDash val="solid"/>
          </a:ln>
        </p:spPr>
      </p:sp>
      <p:sp>
        <p:nvSpPr>
          <p:cNvPr id="19" name="Text 17"/>
          <p:cNvSpPr/>
          <p:nvPr/>
        </p:nvSpPr>
        <p:spPr>
          <a:xfrm>
            <a:off x="7955280" y="2578608"/>
            <a:ext cx="3383280" cy="320040"/>
          </a:xfrm>
          <a:prstGeom prst="rect">
            <a:avLst/>
          </a:prstGeom>
          <a:noFill/>
          <a:ln/>
        </p:spPr>
        <p:txBody>
          <a:bodyPr wrap="square" lIns="0" tIns="0" rIns="0" bIns="0"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Cuatro familias sin marca</a:t>
            </a:r>
            <a:endParaRPr lang="en-US" sz="1300" dirty="0"/>
          </a:p>
        </p:txBody>
      </p:sp>
      <p:sp>
        <p:nvSpPr>
          <p:cNvPr id="20" name="Text 18"/>
          <p:cNvSpPr/>
          <p:nvPr/>
        </p:nvSpPr>
        <p:spPr>
          <a:xfrm>
            <a:off x="8138160" y="2971800"/>
            <a:ext cx="3108960" cy="1097280"/>
          </a:xfrm>
          <a:prstGeom prst="rect">
            <a:avLst/>
          </a:prstGeom>
          <a:noFill/>
          <a:ln/>
        </p:spPr>
        <p:txBody>
          <a:bodyPr wrap="square" lIns="0" tIns="0" rIns="0" bIns="0" rtlCol="0" anchor="ctr"/>
          <a:lstStyle/>
          <a:p>
            <a:pPr marL="342900" indent="-342900">
              <a:lnSpc>
                <a:spcPts val="2000"/>
              </a:lnSpc>
              <a:buSzPct val="100000"/>
              <a:buChar char="•"/>
            </a:pPr>
            <a:r>
              <a:rPr lang="en-US" sz="1250" dirty="0">
                <a:solidFill>
                  <a:srgbClr val="374151"/>
                </a:solidFill>
                <a:latin typeface="Calibri" pitchFamily="34" charset="0"/>
                <a:ea typeface="Calibri" pitchFamily="34" charset="-122"/>
                <a:cs typeface="Calibri" pitchFamily="34" charset="-120"/>
              </a:rPr>
              <a:t>BADRABBIT</a:t>
            </a:r>
            <a:endParaRPr lang="en-US" sz="1250" dirty="0"/>
          </a:p>
          <a:p>
            <a:pPr marL="342900" indent="-342900">
              <a:lnSpc>
                <a:spcPts val="2000"/>
              </a:lnSpc>
              <a:buSzPct val="100000"/>
              <a:buChar char="•"/>
            </a:pPr>
            <a:r>
              <a:rPr lang="en-US" sz="1250" dirty="0">
                <a:solidFill>
                  <a:srgbClr val="374151"/>
                </a:solidFill>
                <a:latin typeface="Calibri" pitchFamily="34" charset="0"/>
                <a:ea typeface="Calibri" pitchFamily="34" charset="-122"/>
                <a:cs typeface="Calibri" pitchFamily="34" charset="-120"/>
              </a:rPr>
              <a:t>JIGSAW</a:t>
            </a:r>
            <a:endParaRPr lang="en-US" sz="1250" dirty="0"/>
          </a:p>
          <a:p>
            <a:pPr marL="342900" indent="-342900">
              <a:lnSpc>
                <a:spcPts val="2000"/>
              </a:lnSpc>
              <a:buSzPct val="100000"/>
              <a:buChar char="•"/>
            </a:pPr>
            <a:r>
              <a:rPr lang="en-US" sz="1250" dirty="0">
                <a:solidFill>
                  <a:srgbClr val="374151"/>
                </a:solidFill>
                <a:latin typeface="Calibri" pitchFamily="34" charset="0"/>
                <a:ea typeface="Calibri" pitchFamily="34" charset="-122"/>
                <a:cs typeface="Calibri" pitchFamily="34" charset="-120"/>
              </a:rPr>
              <a:t>NOTPETYA</a:t>
            </a:r>
            <a:endParaRPr lang="en-US" sz="1250" dirty="0"/>
          </a:p>
          <a:p>
            <a:pPr marL="342900" indent="-342900">
              <a:lnSpc>
                <a:spcPts val="2000"/>
              </a:lnSpc>
              <a:buSzPct val="100000"/>
              <a:buChar char="•"/>
            </a:pPr>
            <a:r>
              <a:rPr lang="en-US" sz="1250" dirty="0">
                <a:solidFill>
                  <a:srgbClr val="374151"/>
                </a:solidFill>
                <a:latin typeface="Calibri" pitchFamily="34" charset="0"/>
                <a:ea typeface="Calibri" pitchFamily="34" charset="-122"/>
                <a:cs typeface="Calibri" pitchFamily="34" charset="-120"/>
              </a:rPr>
              <a:t>SUNCRYPT</a:t>
            </a:r>
            <a:endParaRPr lang="en-US" sz="1250" dirty="0"/>
          </a:p>
        </p:txBody>
      </p:sp>
      <p:sp>
        <p:nvSpPr>
          <p:cNvPr id="21" name="Text 19"/>
          <p:cNvSpPr/>
          <p:nvPr/>
        </p:nvSpPr>
        <p:spPr>
          <a:xfrm>
            <a:off x="7955280" y="4297680"/>
            <a:ext cx="3383280" cy="1097280"/>
          </a:xfrm>
          <a:prstGeom prst="rect">
            <a:avLst/>
          </a:prstGeom>
          <a:noFill/>
          <a:ln/>
        </p:spPr>
        <p:txBody>
          <a:bodyPr wrap="square" lIns="0" tIns="0" rIns="0" bIns="0" rtlCol="0" anchor="ctr"/>
          <a:lstStyle/>
          <a:p>
            <a:pPr indent="0" marL="0">
              <a:lnSpc>
                <a:spcPts val="1800"/>
              </a:lnSpc>
              <a:buNone/>
            </a:pPr>
            <a:r>
              <a:rPr lang="en-US" sz="1150" dirty="0">
                <a:solidFill>
                  <a:srgbClr val="2E4374"/>
                </a:solidFill>
                <a:latin typeface="Calibri" pitchFamily="34" charset="0"/>
                <a:ea typeface="Calibri" pitchFamily="34" charset="-122"/>
                <a:cs typeface="Calibri" pitchFamily="34" charset="-120"/>
              </a:rPr>
              <a:t>El caso de NOTPETYA coincide con lo documentado por Davies et al. (2023), obtenido por una vía metodológica distinta.</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EXPERIMENTO 2c</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Aprendizaje sobre los bytes del archivo</a:t>
            </a:r>
            <a:endParaRPr lang="en-US" sz="3000" dirty="0"/>
          </a:p>
        </p:txBody>
      </p:sp>
      <p:sp>
        <p:nvSpPr>
          <p:cNvPr id="4" name="Text 2"/>
          <p:cNvSpPr/>
          <p:nvPr/>
        </p:nvSpPr>
        <p:spPr>
          <a:xfrm>
            <a:off x="548640" y="1463040"/>
            <a:ext cx="5943600" cy="1005840"/>
          </a:xfrm>
          <a:prstGeom prst="rect">
            <a:avLst/>
          </a:prstGeom>
          <a:noFill/>
          <a:ln/>
        </p:spPr>
        <p:txBody>
          <a:bodyPr wrap="square" lIns="0" tIns="0" rIns="0" bIns="0" rtlCol="0" anchor="ctr"/>
          <a:lstStyle/>
          <a:p>
            <a:pPr indent="0" marL="0">
              <a:lnSpc>
                <a:spcPts val="2300"/>
              </a:lnSpc>
              <a:buNone/>
            </a:pPr>
            <a:r>
              <a:rPr lang="en-US" sz="1450" dirty="0">
                <a:solidFill>
                  <a:srgbClr val="374151"/>
                </a:solidFill>
                <a:latin typeface="Calibri" pitchFamily="34" charset="0"/>
                <a:ea typeface="Calibri" pitchFamily="34" charset="-122"/>
                <a:cs typeface="Calibri" pitchFamily="34" charset="-120"/>
              </a:rPr>
              <a:t>Sustituye la regla de coincidencia exacta —que solo cubría el 53 % de los archivos— por un clasificador entrenado sobre los 512 bytes de cabecera y 512 de cola. No utiliza el nombre ni la extensión.</a:t>
            </a:r>
            <a:endParaRPr lang="en-US" sz="1450" dirty="0"/>
          </a:p>
        </p:txBody>
      </p:sp>
      <p:sp>
        <p:nvSpPr>
          <p:cNvPr id="5" name="Text 3"/>
          <p:cNvSpPr/>
          <p:nvPr/>
        </p:nvSpPr>
        <p:spPr>
          <a:xfrm>
            <a:off x="548640" y="2697480"/>
            <a:ext cx="283464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0,910</a:t>
            </a:r>
            <a:endParaRPr lang="en-US" sz="4000" dirty="0"/>
          </a:p>
        </p:txBody>
      </p:sp>
      <p:sp>
        <p:nvSpPr>
          <p:cNvPr id="6" name="Text 4"/>
          <p:cNvSpPr/>
          <p:nvPr/>
        </p:nvSpPr>
        <p:spPr>
          <a:xfrm>
            <a:off x="548640" y="3392424"/>
            <a:ext cx="283464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exactitud sobre 14.500 archivos</a:t>
            </a:r>
            <a:endParaRPr lang="en-US" sz="1100" dirty="0"/>
          </a:p>
        </p:txBody>
      </p:sp>
      <p:sp>
        <p:nvSpPr>
          <p:cNvPr id="7" name="Text 5"/>
          <p:cNvSpPr/>
          <p:nvPr/>
        </p:nvSpPr>
        <p:spPr>
          <a:xfrm>
            <a:off x="3566160" y="2697480"/>
            <a:ext cx="283464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100 %</a:t>
            </a:r>
            <a:endParaRPr lang="en-US" sz="4000" dirty="0"/>
          </a:p>
        </p:txBody>
      </p:sp>
      <p:sp>
        <p:nvSpPr>
          <p:cNvPr id="8" name="Text 6"/>
          <p:cNvSpPr/>
          <p:nvPr/>
        </p:nvSpPr>
        <p:spPr>
          <a:xfrm>
            <a:off x="3566160" y="3392424"/>
            <a:ext cx="283464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cobertura, 29 familias</a:t>
            </a:r>
            <a:endParaRPr lang="en-US" sz="1100" dirty="0"/>
          </a:p>
        </p:txBody>
      </p:sp>
      <p:sp>
        <p:nvSpPr>
          <p:cNvPr id="9" name="Text 7"/>
          <p:cNvSpPr/>
          <p:nvPr/>
        </p:nvSpPr>
        <p:spPr>
          <a:xfrm>
            <a:off x="548640" y="4114800"/>
            <a:ext cx="5852160" cy="365760"/>
          </a:xfrm>
          <a:prstGeom prst="rect">
            <a:avLst/>
          </a:prstGeom>
          <a:noFill/>
          <a:ln/>
        </p:spPr>
        <p:txBody>
          <a:bodyPr wrap="square" lIns="0" tIns="0" rIns="0" bIns="0" rtlCol="0" anchor="ctr"/>
          <a:lstStyle/>
          <a:p>
            <a:pPr indent="0" marL="0">
              <a:buNone/>
            </a:pPr>
            <a:r>
              <a:rPr lang="en-US" sz="1500" b="1" dirty="0">
                <a:solidFill>
                  <a:srgbClr val="3F7D5C"/>
                </a:solidFill>
                <a:latin typeface="Calibri" pitchFamily="34" charset="0"/>
                <a:ea typeface="Calibri" pitchFamily="34" charset="-122"/>
                <a:cs typeface="Calibri" pitchFamily="34" charset="-120"/>
              </a:rPr>
              <a:t>23 de 29 familias alcanzan F1 ≥ 0,98</a:t>
            </a:r>
            <a:endParaRPr lang="en-US" sz="1500" dirty="0"/>
          </a:p>
        </p:txBody>
      </p:sp>
      <p:sp>
        <p:nvSpPr>
          <p:cNvPr id="10" name="Shape 8"/>
          <p:cNvSpPr/>
          <p:nvPr/>
        </p:nvSpPr>
        <p:spPr>
          <a:xfrm>
            <a:off x="548640" y="4617720"/>
            <a:ext cx="5852160" cy="1234440"/>
          </a:xfrm>
          <a:prstGeom prst="roundRect">
            <a:avLst>
              <a:gd name="adj" fmla="val 5926"/>
            </a:avLst>
          </a:prstGeom>
          <a:solidFill>
            <a:srgbClr val="FDF6EC"/>
          </a:solidFill>
          <a:ln w="12700">
            <a:solidFill>
              <a:srgbClr val="E2E8F5"/>
            </a:solidFill>
            <a:prstDash val="solid"/>
          </a:ln>
        </p:spPr>
      </p:sp>
      <p:sp>
        <p:nvSpPr>
          <p:cNvPr id="11" name="Text 9"/>
          <p:cNvSpPr/>
          <p:nvPr/>
        </p:nvSpPr>
        <p:spPr>
          <a:xfrm>
            <a:off x="822960" y="4800600"/>
            <a:ext cx="5394960" cy="914400"/>
          </a:xfrm>
          <a:prstGeom prst="rect">
            <a:avLst/>
          </a:prstGeom>
          <a:noFill/>
          <a:ln/>
        </p:spPr>
        <p:txBody>
          <a:bodyPr wrap="square" lIns="0" tIns="0" rIns="0" bIns="0" rtlCol="0" anchor="ctr"/>
          <a:lstStyle/>
          <a:p>
            <a:pPr indent="0" marL="0">
              <a:lnSpc>
                <a:spcPts val="1800"/>
              </a:lnSpc>
              <a:buNone/>
            </a:pPr>
            <a:r>
              <a:rPr lang="en-US" sz="1200" dirty="0">
                <a:solidFill>
                  <a:srgbClr val="374151"/>
                </a:solidFill>
                <a:latin typeface="Calibri" pitchFamily="34" charset="0"/>
                <a:ea typeface="Calibri" pitchFamily="34" charset="-122"/>
                <a:cs typeface="Calibri" pitchFamily="34" charset="-120"/>
              </a:rPr>
              <a:t>BADRABBIT pasa de F1 0,15 a 0,98: el clasificador halla patrones que la regla exacta no detectaba. La representación posicional supera a los n-gramas, lo que indica que las marcas están en desplazamientos fijos.</a:t>
            </a:r>
            <a:endParaRPr lang="en-US" sz="1200" dirty="0"/>
          </a:p>
        </p:txBody>
      </p:sp>
      <p:pic>
        <p:nvPicPr>
          <p:cNvPr id="12" name="Image 0" descr="C:/Users/Romina/Tesis/1_documento/Plantilla_de_Tesis___Romina_Carlos/images/fig_f1_por_familia_bytes.png">    </p:cNvPr>
          <p:cNvPicPr>
            <a:picLocks noChangeAspect="1"/>
          </p:cNvPicPr>
          <p:nvPr/>
        </p:nvPicPr>
        <p:blipFill>
          <a:blip r:embed="rId1"/>
          <a:stretch>
            <a:fillRect/>
          </a:stretch>
        </p:blipFill>
        <p:spPr>
          <a:xfrm>
            <a:off x="6720840" y="1371600"/>
            <a:ext cx="4937760" cy="4617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VALIDACIÓN CRÍTICA</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¿Aprende el ransomware o el documento original?</a:t>
            </a:r>
            <a:endParaRPr lang="en-US" sz="3000" dirty="0"/>
          </a:p>
        </p:txBody>
      </p:sp>
      <p:sp>
        <p:nvSpPr>
          <p:cNvPr id="4" name="Text 2"/>
          <p:cNvSpPr/>
          <p:nvPr/>
        </p:nvSpPr>
        <p:spPr>
          <a:xfrm>
            <a:off x="548640" y="1463040"/>
            <a:ext cx="5943600" cy="1371600"/>
          </a:xfrm>
          <a:prstGeom prst="rect">
            <a:avLst/>
          </a:prstGeom>
          <a:noFill/>
          <a:ln/>
        </p:spPr>
        <p:txBody>
          <a:bodyPr wrap="square" lIns="0" tIns="0" rIns="0" bIns="0" rtlCol="0" anchor="ctr"/>
          <a:lstStyle/>
          <a:p>
            <a:pPr indent="0" marL="0">
              <a:lnSpc>
                <a:spcPts val="2200"/>
              </a:lnSpc>
              <a:buNone/>
            </a:pPr>
            <a:r>
              <a:rPr lang="en-US" sz="1400" dirty="0">
                <a:solidFill>
                  <a:srgbClr val="374151"/>
                </a:solidFill>
                <a:latin typeface="Calibri" pitchFamily="34" charset="0"/>
                <a:ea typeface="Calibri" pitchFamily="34" charset="-122"/>
                <a:cs typeface="Calibri" pitchFamily="34" charset="-120"/>
              </a:rPr>
              <a:t>En NapierOne todas las familias cifraron el mismo conjunto base de documentos. Si alguna conservara parte de la cabecera original, el clasificador podría estar aprendiendo rasgos del documento y no del ransomware. Se comprobó entrenando con todos los tipos de documento salvo uno y evaluando sobre ese tipo, nunca visto.</a:t>
            </a:r>
            <a:endParaRPr lang="en-US" sz="1400" dirty="0"/>
          </a:p>
        </p:txBody>
      </p:sp>
      <p:sp>
        <p:nvSpPr>
          <p:cNvPr id="5" name="Text 3"/>
          <p:cNvSpPr/>
          <p:nvPr/>
        </p:nvSpPr>
        <p:spPr>
          <a:xfrm>
            <a:off x="548640" y="3017520"/>
            <a:ext cx="310896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Tipo excluido del entrenamiento</a:t>
            </a:r>
            <a:endParaRPr lang="en-US" sz="1100" dirty="0"/>
          </a:p>
        </p:txBody>
      </p:sp>
      <p:sp>
        <p:nvSpPr>
          <p:cNvPr id="6" name="Text 4"/>
          <p:cNvSpPr/>
          <p:nvPr/>
        </p:nvSpPr>
        <p:spPr>
          <a:xfrm>
            <a:off x="3840480" y="3017520"/>
            <a:ext cx="1463040" cy="274320"/>
          </a:xfrm>
          <a:prstGeom prst="rect">
            <a:avLst/>
          </a:prstGeom>
          <a:noFill/>
          <a:ln/>
        </p:spPr>
        <p:txBody>
          <a:bodyPr wrap="square" lIns="0" tIns="0" rIns="0" bIns="0" rtlCol="0" anchor="ctr"/>
          <a:lstStyle/>
          <a:p>
            <a:pPr algn="r" indent="0" marL="0">
              <a:buNone/>
            </a:pPr>
            <a:r>
              <a:rPr lang="en-US" sz="1100" b="1" dirty="0">
                <a:solidFill>
                  <a:srgbClr val="6B7280"/>
                </a:solidFill>
                <a:latin typeface="Calibri" pitchFamily="34" charset="0"/>
                <a:ea typeface="Calibri" pitchFamily="34" charset="-122"/>
                <a:cs typeface="Calibri" pitchFamily="34" charset="-120"/>
              </a:rPr>
              <a:t>Exactitud</a:t>
            </a:r>
            <a:endParaRPr lang="en-US" sz="1100" dirty="0"/>
          </a:p>
        </p:txBody>
      </p:sp>
      <p:sp>
        <p:nvSpPr>
          <p:cNvPr id="7" name="Text 5"/>
          <p:cNvSpPr/>
          <p:nvPr/>
        </p:nvSpPr>
        <p:spPr>
          <a:xfrm>
            <a:off x="685800" y="3364992"/>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doc</a:t>
            </a:r>
            <a:endParaRPr lang="en-US" sz="1300" dirty="0"/>
          </a:p>
        </p:txBody>
      </p:sp>
      <p:sp>
        <p:nvSpPr>
          <p:cNvPr id="8" name="Text 6"/>
          <p:cNvSpPr/>
          <p:nvPr/>
        </p:nvSpPr>
        <p:spPr>
          <a:xfrm>
            <a:off x="3840480" y="3364992"/>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0,889</a:t>
            </a:r>
            <a:endParaRPr lang="en-US" sz="1300" dirty="0"/>
          </a:p>
        </p:txBody>
      </p:sp>
      <p:sp>
        <p:nvSpPr>
          <p:cNvPr id="9" name="Text 7"/>
          <p:cNvSpPr/>
          <p:nvPr/>
        </p:nvSpPr>
        <p:spPr>
          <a:xfrm>
            <a:off x="685800" y="3767328"/>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docx</a:t>
            </a:r>
            <a:endParaRPr lang="en-US" sz="1300" dirty="0"/>
          </a:p>
        </p:txBody>
      </p:sp>
      <p:sp>
        <p:nvSpPr>
          <p:cNvPr id="10" name="Text 8"/>
          <p:cNvSpPr/>
          <p:nvPr/>
        </p:nvSpPr>
        <p:spPr>
          <a:xfrm>
            <a:off x="3840480" y="3767328"/>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0,887</a:t>
            </a:r>
            <a:endParaRPr lang="en-US" sz="1300" dirty="0"/>
          </a:p>
        </p:txBody>
      </p:sp>
      <p:sp>
        <p:nvSpPr>
          <p:cNvPr id="11" name="Text 9"/>
          <p:cNvSpPr/>
          <p:nvPr/>
        </p:nvSpPr>
        <p:spPr>
          <a:xfrm>
            <a:off x="685800" y="4169664"/>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xlsx</a:t>
            </a:r>
            <a:endParaRPr lang="en-US" sz="1300" dirty="0"/>
          </a:p>
        </p:txBody>
      </p:sp>
      <p:sp>
        <p:nvSpPr>
          <p:cNvPr id="12" name="Text 10"/>
          <p:cNvSpPr/>
          <p:nvPr/>
        </p:nvSpPr>
        <p:spPr>
          <a:xfrm>
            <a:off x="3840480" y="4169664"/>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0,884</a:t>
            </a:r>
            <a:endParaRPr lang="en-US" sz="1300" dirty="0"/>
          </a:p>
        </p:txBody>
      </p:sp>
      <p:sp>
        <p:nvSpPr>
          <p:cNvPr id="13" name="Text 11"/>
          <p:cNvSpPr/>
          <p:nvPr/>
        </p:nvSpPr>
        <p:spPr>
          <a:xfrm>
            <a:off x="685800" y="4572000"/>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jpg</a:t>
            </a:r>
            <a:endParaRPr lang="en-US" sz="1300" dirty="0"/>
          </a:p>
        </p:txBody>
      </p:sp>
      <p:sp>
        <p:nvSpPr>
          <p:cNvPr id="14" name="Text 12"/>
          <p:cNvSpPr/>
          <p:nvPr/>
        </p:nvSpPr>
        <p:spPr>
          <a:xfrm>
            <a:off x="3840480" y="4572000"/>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0,874</a:t>
            </a:r>
            <a:endParaRPr lang="en-US" sz="1300" dirty="0"/>
          </a:p>
        </p:txBody>
      </p:sp>
      <p:sp>
        <p:nvSpPr>
          <p:cNvPr id="15" name="Text 13"/>
          <p:cNvSpPr/>
          <p:nvPr/>
        </p:nvSpPr>
        <p:spPr>
          <a:xfrm>
            <a:off x="685800" y="4974336"/>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pptx</a:t>
            </a:r>
            <a:endParaRPr lang="en-US" sz="1300" dirty="0"/>
          </a:p>
        </p:txBody>
      </p:sp>
      <p:sp>
        <p:nvSpPr>
          <p:cNvPr id="16" name="Text 14"/>
          <p:cNvSpPr/>
          <p:nvPr/>
        </p:nvSpPr>
        <p:spPr>
          <a:xfrm>
            <a:off x="3840480" y="4974336"/>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0,867</a:t>
            </a:r>
            <a:endParaRPr lang="en-US" sz="1300" dirty="0"/>
          </a:p>
        </p:txBody>
      </p:sp>
      <p:sp>
        <p:nvSpPr>
          <p:cNvPr id="17" name="Text 15"/>
          <p:cNvSpPr/>
          <p:nvPr/>
        </p:nvSpPr>
        <p:spPr>
          <a:xfrm>
            <a:off x="685800" y="5376672"/>
            <a:ext cx="2926080" cy="320040"/>
          </a:xfrm>
          <a:prstGeom prst="rect">
            <a:avLst/>
          </a:prstGeom>
          <a:noFill/>
          <a:ln/>
        </p:spPr>
        <p:txBody>
          <a:bodyPr wrap="square" lIns="0" tIns="0" rIns="0" bIns="0" rtlCol="0" anchor="ctr"/>
          <a:lstStyle/>
          <a:p>
            <a:pPr indent="0" marL="0">
              <a:buNone/>
            </a:pPr>
            <a:r>
              <a:rPr lang="en-US" sz="1300" dirty="0">
                <a:solidFill>
                  <a:srgbClr val="16233F"/>
                </a:solidFill>
                <a:latin typeface="Calibri" pitchFamily="34" charset="0"/>
                <a:ea typeface="Calibri" pitchFamily="34" charset="-122"/>
                <a:cs typeface="Calibri" pitchFamily="34" charset="-120"/>
              </a:rPr>
              <a:t>pdf</a:t>
            </a:r>
            <a:endParaRPr lang="en-US" sz="1300" dirty="0"/>
          </a:p>
        </p:txBody>
      </p:sp>
      <p:sp>
        <p:nvSpPr>
          <p:cNvPr id="18" name="Text 16"/>
          <p:cNvSpPr/>
          <p:nvPr/>
        </p:nvSpPr>
        <p:spPr>
          <a:xfrm>
            <a:off x="3840480" y="5376672"/>
            <a:ext cx="1463040" cy="320040"/>
          </a:xfrm>
          <a:prstGeom prst="rect">
            <a:avLst/>
          </a:prstGeom>
          <a:noFill/>
          <a:ln/>
        </p:spPr>
        <p:txBody>
          <a:bodyPr wrap="square" lIns="0" tIns="0" rIns="0" bIns="0" rtlCol="0" anchor="ctr"/>
          <a:lstStyle/>
          <a:p>
            <a:pPr algn="r" indent="0" marL="0">
              <a:buNone/>
            </a:pPr>
            <a:r>
              <a:rPr lang="en-US" sz="1300" b="1" dirty="0">
                <a:solidFill>
                  <a:srgbClr val="16233F"/>
                </a:solidFill>
                <a:latin typeface="Calibri" pitchFamily="34" charset="0"/>
                <a:ea typeface="Calibri" pitchFamily="34" charset="-122"/>
                <a:cs typeface="Calibri" pitchFamily="34" charset="-120"/>
              </a:rPr>
              <a:t>0,863</a:t>
            </a:r>
            <a:endParaRPr lang="en-US" sz="1300" dirty="0"/>
          </a:p>
        </p:txBody>
      </p:sp>
      <p:sp>
        <p:nvSpPr>
          <p:cNvPr id="19" name="Shape 17"/>
          <p:cNvSpPr/>
          <p:nvPr/>
        </p:nvSpPr>
        <p:spPr>
          <a:xfrm>
            <a:off x="6949440" y="1463040"/>
            <a:ext cx="4663440" cy="4160520"/>
          </a:xfrm>
          <a:prstGeom prst="roundRect">
            <a:avLst>
              <a:gd name="adj" fmla="val 1758"/>
            </a:avLst>
          </a:prstGeom>
          <a:solidFill>
            <a:srgbClr val="EFF6F1"/>
          </a:solidFill>
          <a:ln w="12700">
            <a:solidFill>
              <a:srgbClr val="E2E8F5"/>
            </a:solidFill>
            <a:prstDash val="solid"/>
          </a:ln>
        </p:spPr>
      </p:sp>
      <p:sp>
        <p:nvSpPr>
          <p:cNvPr id="20" name="Text 18"/>
          <p:cNvSpPr/>
          <p:nvPr/>
        </p:nvSpPr>
        <p:spPr>
          <a:xfrm>
            <a:off x="7269480" y="1691640"/>
            <a:ext cx="4023360" cy="320040"/>
          </a:xfrm>
          <a:prstGeom prst="rect">
            <a:avLst/>
          </a:prstGeom>
          <a:noFill/>
          <a:ln/>
        </p:spPr>
        <p:txBody>
          <a:bodyPr wrap="square" lIns="0" tIns="0" rIns="0" bIns="0" rtlCol="0" anchor="ctr"/>
          <a:lstStyle/>
          <a:p>
            <a:pPr indent="0" marL="0">
              <a:buNone/>
            </a:pPr>
            <a:r>
              <a:rPr lang="en-US" sz="1200" b="1" dirty="0">
                <a:solidFill>
                  <a:srgbClr val="3F7D5C"/>
                </a:solidFill>
                <a:latin typeface="Calibri" pitchFamily="34" charset="0"/>
                <a:ea typeface="Calibri" pitchFamily="34" charset="-122"/>
                <a:cs typeface="Calibri" pitchFamily="34" charset="-120"/>
              </a:rPr>
              <a:t>Resultado</a:t>
            </a:r>
            <a:endParaRPr lang="en-US" sz="1200" dirty="0"/>
          </a:p>
        </p:txBody>
      </p:sp>
      <p:sp>
        <p:nvSpPr>
          <p:cNvPr id="21" name="Text 19"/>
          <p:cNvSpPr/>
          <p:nvPr/>
        </p:nvSpPr>
        <p:spPr>
          <a:xfrm>
            <a:off x="7269480" y="2103120"/>
            <a:ext cx="4023360" cy="713232"/>
          </a:xfrm>
          <a:prstGeom prst="rect">
            <a:avLst/>
          </a:prstGeom>
          <a:noFill/>
          <a:ln/>
        </p:spPr>
        <p:txBody>
          <a:bodyPr wrap="square" lIns="0" tIns="0" rIns="0" bIns="0" rtlCol="0" anchor="ctr"/>
          <a:lstStyle/>
          <a:p>
            <a:pPr algn="ctr" indent="0" marL="0">
              <a:buNone/>
            </a:pPr>
            <a:r>
              <a:rPr lang="en-US" sz="4000" b="1" dirty="0">
                <a:solidFill>
                  <a:srgbClr val="16233F"/>
                </a:solidFill>
                <a:latin typeface="Cambria" pitchFamily="34" charset="0"/>
                <a:ea typeface="Cambria" pitchFamily="34" charset="-122"/>
                <a:cs typeface="Cambria" pitchFamily="34" charset="-120"/>
              </a:rPr>
              <a:t>0,879</a:t>
            </a:r>
            <a:endParaRPr lang="en-US" sz="4000" dirty="0"/>
          </a:p>
        </p:txBody>
      </p:sp>
      <p:sp>
        <p:nvSpPr>
          <p:cNvPr id="22" name="Text 20"/>
          <p:cNvSpPr/>
          <p:nvPr/>
        </p:nvSpPr>
        <p:spPr>
          <a:xfrm>
            <a:off x="7269480" y="2798064"/>
            <a:ext cx="40233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promedio sobre los 7 tipos</a:t>
            </a:r>
            <a:endParaRPr lang="en-US" sz="1100" dirty="0"/>
          </a:p>
        </p:txBody>
      </p:sp>
      <p:sp>
        <p:nvSpPr>
          <p:cNvPr id="23" name="Text 21"/>
          <p:cNvSpPr/>
          <p:nvPr/>
        </p:nvSpPr>
        <p:spPr>
          <a:xfrm>
            <a:off x="7269480" y="3200400"/>
            <a:ext cx="402336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frente a 0,910 con el tipo presente</a:t>
            </a:r>
            <a:endParaRPr lang="en-US" sz="1200" dirty="0"/>
          </a:p>
        </p:txBody>
      </p:sp>
      <p:sp>
        <p:nvSpPr>
          <p:cNvPr id="24" name="Text 22"/>
          <p:cNvSpPr/>
          <p:nvPr/>
        </p:nvSpPr>
        <p:spPr>
          <a:xfrm>
            <a:off x="7269480" y="3566160"/>
            <a:ext cx="4023360" cy="713232"/>
          </a:xfrm>
          <a:prstGeom prst="rect">
            <a:avLst/>
          </a:prstGeom>
          <a:noFill/>
          <a:ln/>
        </p:spPr>
        <p:txBody>
          <a:bodyPr wrap="square" lIns="0" tIns="0" rIns="0" bIns="0" rtlCol="0" anchor="ctr"/>
          <a:lstStyle/>
          <a:p>
            <a:pPr algn="ctr" indent="0" marL="0">
              <a:buNone/>
            </a:pPr>
            <a:r>
              <a:rPr lang="en-US" sz="4000" b="1" dirty="0">
                <a:solidFill>
                  <a:srgbClr val="3F7D5C"/>
                </a:solidFill>
                <a:latin typeface="Cambria" pitchFamily="34" charset="0"/>
                <a:ea typeface="Cambria" pitchFamily="34" charset="-122"/>
                <a:cs typeface="Cambria" pitchFamily="34" charset="-120"/>
              </a:rPr>
              <a:t>−0,031</a:t>
            </a:r>
            <a:endParaRPr lang="en-US" sz="4000" dirty="0"/>
          </a:p>
        </p:txBody>
      </p:sp>
      <p:sp>
        <p:nvSpPr>
          <p:cNvPr id="25" name="Text 23"/>
          <p:cNvSpPr/>
          <p:nvPr/>
        </p:nvSpPr>
        <p:spPr>
          <a:xfrm>
            <a:off x="7269480" y="4261104"/>
            <a:ext cx="40233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caída</a:t>
            </a:r>
            <a:endParaRPr lang="en-US" sz="1100" dirty="0"/>
          </a:p>
        </p:txBody>
      </p:sp>
      <p:sp>
        <p:nvSpPr>
          <p:cNvPr id="26" name="Text 24"/>
          <p:cNvSpPr/>
          <p:nvPr/>
        </p:nvSpPr>
        <p:spPr>
          <a:xfrm>
            <a:off x="7269480" y="4754880"/>
            <a:ext cx="4023360" cy="777240"/>
          </a:xfrm>
          <a:prstGeom prst="rect">
            <a:avLst/>
          </a:prstGeom>
          <a:noFill/>
          <a:ln/>
        </p:spPr>
        <p:txBody>
          <a:bodyPr wrap="square" lIns="0" tIns="0" rIns="0" bIns="0" rtlCol="0" anchor="ctr"/>
          <a:lstStyle/>
          <a:p>
            <a:pPr algn="ctr" indent="0" marL="0">
              <a:lnSpc>
                <a:spcPts val="1900"/>
              </a:lnSpc>
              <a:buNone/>
            </a:pPr>
            <a:r>
              <a:rPr lang="en-US" sz="1250" b="1" dirty="0">
                <a:solidFill>
                  <a:srgbClr val="3F7D5C"/>
                </a:solidFill>
                <a:latin typeface="Calibri" pitchFamily="34" charset="0"/>
                <a:ea typeface="Calibri" pitchFamily="34" charset="-122"/>
                <a:cs typeface="Calibri" pitchFamily="34" charset="-120"/>
              </a:rPr>
              <a:t>El rendimiento se sostiene: la marca aprendida es del ransomware. El resultado principal queda confirmado.</a:t>
            </a:r>
            <a:endParaRPr lang="en-US" sz="1250" dirty="0"/>
          </a:p>
        </p:txBody>
      </p:sp>
      <p:sp>
        <p:nvSpPr>
          <p:cNvPr id="27" name="Text 25"/>
          <p:cNvSpPr/>
          <p:nvPr/>
        </p:nvSpPr>
        <p:spPr>
          <a:xfrm>
            <a:off x="548640" y="5806440"/>
            <a:ext cx="11064240" cy="640080"/>
          </a:xfrm>
          <a:prstGeom prst="rect">
            <a:avLst/>
          </a:prstGeom>
          <a:noFill/>
          <a:ln/>
        </p:spPr>
        <p:txBody>
          <a:bodyPr wrap="square" lIns="0" tIns="0" rIns="0" bIns="0" rtlCol="0" anchor="ctr"/>
          <a:lstStyle/>
          <a:p>
            <a:pPr indent="0" marL="0">
              <a:lnSpc>
                <a:spcPts val="1800"/>
              </a:lnSpc>
              <a:buNone/>
            </a:pPr>
            <a:r>
              <a:rPr lang="en-US" sz="1200" i="1" dirty="0">
                <a:solidFill>
                  <a:srgbClr val="2E4374"/>
                </a:solidFill>
                <a:latin typeface="Calibri" pitchFamily="34" charset="0"/>
                <a:ea typeface="Calibri" pitchFamily="34" charset="-122"/>
                <a:cs typeface="Calibri" pitchFamily="34" charset="-120"/>
              </a:rPr>
              <a:t>Dato adicional: BLACKMATTER y CERBER renombran el archivo por completo, sustituyendo el nombre original por cadenas aleatorias. Cualquier método basado en el nombre resulta inútil con ellas; el clasificador sobre bytes las identifica sin dificultad.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ANÁLISIS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Dónde reside la información y cuántos bytes hacen falta</a:t>
            </a:r>
            <a:endParaRPr lang="en-US" sz="3000" dirty="0"/>
          </a:p>
        </p:txBody>
      </p:sp>
      <p:pic>
        <p:nvPicPr>
          <p:cNvPr id="4" name="Image 0" descr="C:/Users/Romina/Tesis/1_documento/Plantilla_de_Tesis___Romina_Carlos/images/fig_ablacion_ventana.png">    </p:cNvPr>
          <p:cNvPicPr>
            <a:picLocks noChangeAspect="1"/>
          </p:cNvPicPr>
          <p:nvPr/>
        </p:nvPicPr>
        <p:blipFill>
          <a:blip r:embed="rId1"/>
          <a:stretch>
            <a:fillRect/>
          </a:stretch>
        </p:blipFill>
        <p:spPr>
          <a:xfrm>
            <a:off x="685800" y="1417320"/>
            <a:ext cx="10789920" cy="4023360"/>
          </a:xfrm>
          <a:prstGeom prst="rect">
            <a:avLst/>
          </a:prstGeom>
        </p:spPr>
      </p:pic>
      <p:sp>
        <p:nvSpPr>
          <p:cNvPr id="5" name="Text 2"/>
          <p:cNvSpPr/>
          <p:nvPr/>
        </p:nvSpPr>
        <p:spPr>
          <a:xfrm>
            <a:off x="685800" y="5623560"/>
            <a:ext cx="10789920" cy="777240"/>
          </a:xfrm>
          <a:prstGeom prst="rect">
            <a:avLst/>
          </a:prstGeom>
          <a:noFill/>
          <a:ln/>
        </p:spPr>
        <p:txBody>
          <a:bodyPr wrap="square" lIns="0" tIns="0" rIns="0" bIns="0" rtlCol="0" anchor="ctr"/>
          <a:lstStyle/>
          <a:p>
            <a:pPr indent="0" marL="0">
              <a:lnSpc>
                <a:spcPts val="1900"/>
              </a:lnSpc>
              <a:buNone/>
            </a:pPr>
            <a:r>
              <a:rPr lang="en-US" sz="1250" dirty="0">
                <a:solidFill>
                  <a:srgbClr val="374151"/>
                </a:solidFill>
                <a:latin typeface="Calibri" pitchFamily="34" charset="0"/>
                <a:ea typeface="Calibri" pitchFamily="34" charset="-122"/>
                <a:cs typeface="Calibri" pitchFamily="34" charset="-120"/>
              </a:rPr>
              <a:t>El ransomware firma al FINAL del archivo: la cola concentra el 80 % de la importancia del modelo, y por sí sola supera el doble de lo que rinde la cabecera. Ambas regiones son necesarias para alcanzar el máximo. Con 128 bytes se obtiene el 87 % del rendimiento, dato relevante para una implementación práctica.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DIAGNÓSTICO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Por qué fallan las seis familias difíciles</a:t>
            </a:r>
            <a:endParaRPr lang="en-US" sz="3000" dirty="0"/>
          </a:p>
        </p:txBody>
      </p:sp>
      <p:sp>
        <p:nvSpPr>
          <p:cNvPr id="4" name="Text 2"/>
          <p:cNvSpPr/>
          <p:nvPr/>
        </p:nvSpPr>
        <p:spPr>
          <a:xfrm>
            <a:off x="548640" y="1463040"/>
            <a:ext cx="11064240" cy="731520"/>
          </a:xfrm>
          <a:prstGeom prst="rect">
            <a:avLst/>
          </a:prstGeom>
          <a:noFill/>
          <a:ln/>
        </p:spPr>
        <p:txBody>
          <a:bodyPr wrap="square" lIns="0" tIns="0" rIns="0" bIns="0" rtlCol="0" anchor="ctr"/>
          <a:lstStyle/>
          <a:p>
            <a:pPr indent="0" marL="0">
              <a:lnSpc>
                <a:spcPts val="2200"/>
              </a:lnSpc>
              <a:buNone/>
            </a:pPr>
            <a:r>
              <a:rPr lang="en-US" sz="1400" dirty="0">
                <a:solidFill>
                  <a:srgbClr val="374151"/>
                </a:solidFill>
                <a:latin typeface="Calibri" pitchFamily="34" charset="0"/>
                <a:ea typeface="Calibri" pitchFamily="34" charset="-122"/>
                <a:cs typeface="Calibri" pitchFamily="34" charset="-120"/>
              </a:rPr>
              <a:t>Las seis familias de bajo rendimiento se confunden entre ellas en un 97-99 % de los casos: forman un grupo de confusión mutua. La entropía de sus cabeceras y colas revela, sin embargo, que no fallan todas por el mismo motivo.</a:t>
            </a:r>
            <a:endParaRPr lang="en-US" sz="1400" dirty="0"/>
          </a:p>
        </p:txBody>
      </p:sp>
      <p:sp>
        <p:nvSpPr>
          <p:cNvPr id="5" name="Shape 3"/>
          <p:cNvSpPr/>
          <p:nvPr/>
        </p:nvSpPr>
        <p:spPr>
          <a:xfrm>
            <a:off x="548640" y="2377440"/>
            <a:ext cx="5394960" cy="3017520"/>
          </a:xfrm>
          <a:prstGeom prst="roundRect">
            <a:avLst>
              <a:gd name="adj" fmla="val 2424"/>
            </a:avLst>
          </a:prstGeom>
          <a:solidFill>
            <a:srgbClr val="F4F6FB"/>
          </a:solidFill>
          <a:ln w="12700">
            <a:solidFill>
              <a:srgbClr val="E2E8F5"/>
            </a:solidFill>
            <a:prstDash val="solid"/>
          </a:ln>
        </p:spPr>
      </p:sp>
      <p:sp>
        <p:nvSpPr>
          <p:cNvPr id="6" name="Text 4"/>
          <p:cNvSpPr/>
          <p:nvPr/>
        </p:nvSpPr>
        <p:spPr>
          <a:xfrm>
            <a:off x="868680" y="2578608"/>
            <a:ext cx="4754880" cy="320040"/>
          </a:xfrm>
          <a:prstGeom prst="rect">
            <a:avLst/>
          </a:prstGeom>
          <a:noFill/>
          <a:ln/>
        </p:spPr>
        <p:txBody>
          <a:bodyPr wrap="square" lIns="0" tIns="0" rIns="0" bIns="0" rtlCol="0" anchor="ctr"/>
          <a:lstStyle/>
          <a:p>
            <a:pPr indent="0" marL="0">
              <a:buNone/>
            </a:pPr>
            <a:r>
              <a:rPr lang="en-US" sz="1600" b="1" dirty="0">
                <a:solidFill>
                  <a:srgbClr val="16233F"/>
                </a:solidFill>
                <a:latin typeface="Cambria" pitchFamily="34" charset="0"/>
                <a:ea typeface="Cambria" pitchFamily="34" charset="-122"/>
                <a:cs typeface="Cambria" pitchFamily="34" charset="-120"/>
              </a:rPr>
              <a:t>Sin estructura añadida</a:t>
            </a:r>
            <a:endParaRPr lang="en-US" sz="1600" dirty="0"/>
          </a:p>
        </p:txBody>
      </p:sp>
      <p:sp>
        <p:nvSpPr>
          <p:cNvPr id="7" name="Text 5"/>
          <p:cNvSpPr/>
          <p:nvPr/>
        </p:nvSpPr>
        <p:spPr>
          <a:xfrm>
            <a:off x="868680" y="2971800"/>
            <a:ext cx="4754880" cy="731520"/>
          </a:xfrm>
          <a:prstGeom prst="rect">
            <a:avLst/>
          </a:prstGeom>
          <a:noFill/>
          <a:ln/>
        </p:spPr>
        <p:txBody>
          <a:bodyPr wrap="square" lIns="0" tIns="0" rIns="0" bIns="0" rtlCol="0" anchor="ctr"/>
          <a:lstStyle/>
          <a:p>
            <a:pPr indent="0" marL="0">
              <a:lnSpc>
                <a:spcPts val="1900"/>
              </a:lnSpc>
              <a:buNone/>
            </a:pPr>
            <a:r>
              <a:rPr lang="en-US" sz="1250" dirty="0">
                <a:solidFill>
                  <a:srgbClr val="374151"/>
                </a:solidFill>
                <a:latin typeface="Calibri" pitchFamily="34" charset="0"/>
                <a:ea typeface="Calibri" pitchFamily="34" charset="-122"/>
                <a:cs typeface="Calibri" pitchFamily="34" charset="-120"/>
              </a:rPr>
              <a:t>Entropía próxima al máximo en todo el archivo: el cifrado lo ocupa por completo y no hay marca que aprender.</a:t>
            </a:r>
            <a:endParaRPr lang="en-US" sz="1250" dirty="0"/>
          </a:p>
        </p:txBody>
      </p:sp>
      <p:sp>
        <p:nvSpPr>
          <p:cNvPr id="8" name="Text 6"/>
          <p:cNvSpPr/>
          <p:nvPr/>
        </p:nvSpPr>
        <p:spPr>
          <a:xfrm>
            <a:off x="1097280" y="3794760"/>
            <a:ext cx="4572000" cy="1280160"/>
          </a:xfrm>
          <a:prstGeom prst="rect">
            <a:avLst/>
          </a:prstGeom>
          <a:noFill/>
          <a:ln/>
        </p:spPr>
        <p:txBody>
          <a:bodyPr wrap="square" lIns="0" tIns="0" rIns="0" bIns="0" rtlCol="0" anchor="ctr"/>
          <a:lstStyle/>
          <a:p>
            <a:pPr marL="342900" indent="-342900">
              <a:lnSpc>
                <a:spcPts val="2100"/>
              </a:lnSpc>
              <a:buSzPct val="100000"/>
              <a:buChar char="•"/>
            </a:pPr>
            <a:r>
              <a:rPr lang="en-US" sz="1250" dirty="0">
                <a:solidFill>
                  <a:srgbClr val="374151"/>
                </a:solidFill>
                <a:latin typeface="Calibri" pitchFamily="34" charset="0"/>
                <a:ea typeface="Calibri" pitchFamily="34" charset="-122"/>
                <a:cs typeface="Calibri" pitchFamily="34" charset="-120"/>
              </a:rPr>
              <a:t>CRYPTOLOCKER — cola 7,59</a:t>
            </a:r>
            <a:endParaRPr lang="en-US" sz="1250" dirty="0"/>
          </a:p>
          <a:p>
            <a:pPr marL="342900" indent="-342900">
              <a:lnSpc>
                <a:spcPts val="2100"/>
              </a:lnSpc>
              <a:buSzPct val="100000"/>
              <a:buChar char="•"/>
            </a:pPr>
            <a:r>
              <a:rPr lang="en-US" sz="1250" dirty="0">
                <a:solidFill>
                  <a:srgbClr val="374151"/>
                </a:solidFill>
                <a:latin typeface="Calibri" pitchFamily="34" charset="0"/>
                <a:ea typeface="Calibri" pitchFamily="34" charset="-122"/>
                <a:cs typeface="Calibri" pitchFamily="34" charset="-120"/>
              </a:rPr>
              <a:t>WASTEDLOCKER — cola 7,58</a:t>
            </a:r>
            <a:endParaRPr lang="en-US" sz="1250" dirty="0"/>
          </a:p>
          <a:p>
            <a:pPr marL="342900" indent="-342900">
              <a:lnSpc>
                <a:spcPts val="2100"/>
              </a:lnSpc>
              <a:buSzPct val="100000"/>
              <a:buChar char="•"/>
            </a:pPr>
            <a:r>
              <a:rPr lang="en-US" sz="1250" dirty="0">
                <a:solidFill>
                  <a:srgbClr val="374151"/>
                </a:solidFill>
                <a:latin typeface="Calibri" pitchFamily="34" charset="0"/>
                <a:ea typeface="Calibri" pitchFamily="34" charset="-122"/>
                <a:cs typeface="Calibri" pitchFamily="34" charset="-120"/>
              </a:rPr>
              <a:t>JIGSAW — cola 7,55</a:t>
            </a:r>
            <a:endParaRPr lang="en-US" sz="1250" dirty="0"/>
          </a:p>
          <a:p>
            <a:pPr marL="342900" indent="-342900">
              <a:lnSpc>
                <a:spcPts val="2100"/>
              </a:lnSpc>
              <a:buSzPct val="100000"/>
              <a:buChar char="•"/>
            </a:pPr>
            <a:r>
              <a:rPr lang="en-US" sz="1250" dirty="0">
                <a:solidFill>
                  <a:srgbClr val="374151"/>
                </a:solidFill>
                <a:latin typeface="Calibri" pitchFamily="34" charset="0"/>
                <a:ea typeface="Calibri" pitchFamily="34" charset="-122"/>
                <a:cs typeface="Calibri" pitchFamily="34" charset="-120"/>
              </a:rPr>
              <a:t>DARKSIDE — cola 7,49</a:t>
            </a:r>
            <a:endParaRPr lang="en-US" sz="1250" dirty="0"/>
          </a:p>
        </p:txBody>
      </p:sp>
      <p:sp>
        <p:nvSpPr>
          <p:cNvPr id="9" name="Shape 7"/>
          <p:cNvSpPr/>
          <p:nvPr/>
        </p:nvSpPr>
        <p:spPr>
          <a:xfrm>
            <a:off x="6217920" y="2377440"/>
            <a:ext cx="5394960" cy="3017520"/>
          </a:xfrm>
          <a:prstGeom prst="roundRect">
            <a:avLst>
              <a:gd name="adj" fmla="val 2424"/>
            </a:avLst>
          </a:prstGeom>
          <a:solidFill>
            <a:srgbClr val="FDF6EC"/>
          </a:solidFill>
          <a:ln w="12700">
            <a:solidFill>
              <a:srgbClr val="E2E8F5"/>
            </a:solidFill>
            <a:prstDash val="solid"/>
          </a:ln>
        </p:spPr>
      </p:sp>
      <p:sp>
        <p:nvSpPr>
          <p:cNvPr id="10" name="Text 8"/>
          <p:cNvSpPr/>
          <p:nvPr/>
        </p:nvSpPr>
        <p:spPr>
          <a:xfrm>
            <a:off x="6537960" y="2578608"/>
            <a:ext cx="4754880" cy="320040"/>
          </a:xfrm>
          <a:prstGeom prst="rect">
            <a:avLst/>
          </a:prstGeom>
          <a:noFill/>
          <a:ln/>
        </p:spPr>
        <p:txBody>
          <a:bodyPr wrap="square" lIns="0" tIns="0" rIns="0" bIns="0" rtlCol="0" anchor="ctr"/>
          <a:lstStyle/>
          <a:p>
            <a:pPr indent="0" marL="0">
              <a:buNone/>
            </a:pPr>
            <a:r>
              <a:rPr lang="en-US" sz="1600" b="1" dirty="0">
                <a:solidFill>
                  <a:srgbClr val="16233F"/>
                </a:solidFill>
                <a:latin typeface="Cambria" pitchFamily="34" charset="0"/>
                <a:ea typeface="Cambria" pitchFamily="34" charset="-122"/>
                <a:cs typeface="Cambria" pitchFamily="34" charset="-120"/>
              </a:rPr>
              <a:t>Con estructura, pero variable</a:t>
            </a:r>
            <a:endParaRPr lang="en-US" sz="1600" dirty="0"/>
          </a:p>
        </p:txBody>
      </p:sp>
      <p:sp>
        <p:nvSpPr>
          <p:cNvPr id="11" name="Text 9"/>
          <p:cNvSpPr/>
          <p:nvPr/>
        </p:nvSpPr>
        <p:spPr>
          <a:xfrm>
            <a:off x="6537960" y="2971800"/>
            <a:ext cx="4754880" cy="731520"/>
          </a:xfrm>
          <a:prstGeom prst="rect">
            <a:avLst/>
          </a:prstGeom>
          <a:noFill/>
          <a:ln/>
        </p:spPr>
        <p:txBody>
          <a:bodyPr wrap="square" lIns="0" tIns="0" rIns="0" bIns="0" rtlCol="0" anchor="ctr"/>
          <a:lstStyle/>
          <a:p>
            <a:pPr indent="0" marL="0">
              <a:lnSpc>
                <a:spcPts val="1900"/>
              </a:lnSpc>
              <a:buNone/>
            </a:pPr>
            <a:r>
              <a:rPr lang="en-US" sz="1250" dirty="0">
                <a:solidFill>
                  <a:srgbClr val="374151"/>
                </a:solidFill>
                <a:latin typeface="Calibri" pitchFamily="34" charset="0"/>
                <a:ea typeface="Calibri" pitchFamily="34" charset="-122"/>
                <a:cs typeface="Calibri" pitchFamily="34" charset="-120"/>
              </a:rPr>
              <a:t>Sí añaden datos no aleatorios al final, pero ese bloque cambia en cada archivo: es estructura, no firma de familia.</a:t>
            </a:r>
            <a:endParaRPr lang="en-US" sz="1250" dirty="0"/>
          </a:p>
        </p:txBody>
      </p:sp>
      <p:sp>
        <p:nvSpPr>
          <p:cNvPr id="12" name="Text 10"/>
          <p:cNvSpPr/>
          <p:nvPr/>
        </p:nvSpPr>
        <p:spPr>
          <a:xfrm>
            <a:off x="6766560" y="3794760"/>
            <a:ext cx="4572000" cy="731520"/>
          </a:xfrm>
          <a:prstGeom prst="rect">
            <a:avLst/>
          </a:prstGeom>
          <a:noFill/>
          <a:ln/>
        </p:spPr>
        <p:txBody>
          <a:bodyPr wrap="square" lIns="0" tIns="0" rIns="0" bIns="0" rtlCol="0" anchor="ctr"/>
          <a:lstStyle/>
          <a:p>
            <a:pPr marL="342900" indent="-342900">
              <a:lnSpc>
                <a:spcPts val="2100"/>
              </a:lnSpc>
              <a:buSzPct val="100000"/>
              <a:buChar char="•"/>
            </a:pPr>
            <a:r>
              <a:rPr lang="en-US" sz="1250" b="1" dirty="0">
                <a:solidFill>
                  <a:srgbClr val="A8443C"/>
                </a:solidFill>
                <a:latin typeface="Calibri" pitchFamily="34" charset="0"/>
                <a:ea typeface="Calibri" pitchFamily="34" charset="-122"/>
                <a:cs typeface="Calibri" pitchFamily="34" charset="-120"/>
              </a:rPr>
              <a:t>SUNCRYPT — cola 4,78</a:t>
            </a:r>
            <a:endParaRPr lang="en-US" sz="1250" dirty="0"/>
          </a:p>
          <a:p>
            <a:pPr marL="342900" indent="-342900">
              <a:lnSpc>
                <a:spcPts val="2100"/>
              </a:lnSpc>
              <a:buSzPct val="100000"/>
              <a:buChar char="•"/>
            </a:pPr>
            <a:r>
              <a:rPr lang="en-US" sz="1250" b="1" dirty="0">
                <a:solidFill>
                  <a:srgbClr val="A8443C"/>
                </a:solidFill>
                <a:latin typeface="Calibri" pitchFamily="34" charset="0"/>
                <a:ea typeface="Calibri" pitchFamily="34" charset="-122"/>
                <a:cs typeface="Calibri" pitchFamily="34" charset="-120"/>
              </a:rPr>
              <a:t>NOTPETYA — cola 6,58</a:t>
            </a:r>
            <a:endParaRPr lang="en-US" sz="1250" dirty="0"/>
          </a:p>
        </p:txBody>
      </p:sp>
      <p:sp>
        <p:nvSpPr>
          <p:cNvPr id="13" name="Text 11"/>
          <p:cNvSpPr/>
          <p:nvPr/>
        </p:nvSpPr>
        <p:spPr>
          <a:xfrm>
            <a:off x="6766560" y="4617720"/>
            <a:ext cx="4572000" cy="640080"/>
          </a:xfrm>
          <a:prstGeom prst="rect">
            <a:avLst/>
          </a:prstGeom>
          <a:noFill/>
          <a:ln/>
        </p:spPr>
        <p:txBody>
          <a:bodyPr wrap="square" lIns="0" tIns="0" rIns="0" bIns="0" rtlCol="0" anchor="ctr"/>
          <a:lstStyle/>
          <a:p>
            <a:pPr indent="0" marL="0">
              <a:lnSpc>
                <a:spcPts val="1800"/>
              </a:lnSpc>
              <a:buNone/>
            </a:pPr>
            <a:r>
              <a:rPr lang="en-US" sz="1150" i="1" dirty="0">
                <a:solidFill>
                  <a:srgbClr val="2E4374"/>
                </a:solidFill>
                <a:latin typeface="Calibri" pitchFamily="34" charset="0"/>
                <a:ea typeface="Calibri" pitchFamily="34" charset="-122"/>
                <a:cs typeface="Calibri" pitchFamily="34" charset="-120"/>
              </a:rPr>
              <a:t>Frente a 7,44 en el resto de familias. Probablemente contienen una clave o un identificador por víctima.</a:t>
            </a:r>
            <a:endParaRPr lang="en-US" sz="1150" dirty="0"/>
          </a:p>
        </p:txBody>
      </p:sp>
      <p:sp>
        <p:nvSpPr>
          <p:cNvPr id="14" name="Text 12"/>
          <p:cNvSpPr/>
          <p:nvPr/>
        </p:nvSpPr>
        <p:spPr>
          <a:xfrm>
            <a:off x="548640" y="5623560"/>
            <a:ext cx="11064240" cy="640080"/>
          </a:xfrm>
          <a:prstGeom prst="rect">
            <a:avLst/>
          </a:prstGeom>
          <a:noFill/>
          <a:ln/>
        </p:spPr>
        <p:txBody>
          <a:bodyPr wrap="square" lIns="0" tIns="0" rIns="0" bIns="0" rtlCol="0" anchor="ctr"/>
          <a:lstStyle/>
          <a:p>
            <a:pPr algn="ctr" indent="0" marL="0">
              <a:lnSpc>
                <a:spcPts val="2000"/>
              </a:lnSpc>
              <a:buNone/>
            </a:pPr>
            <a:r>
              <a:rPr lang="en-US" sz="1300" b="1" dirty="0">
                <a:solidFill>
                  <a:srgbClr val="16233F"/>
                </a:solidFill>
                <a:latin typeface="Calibri" pitchFamily="34" charset="0"/>
                <a:ea typeface="Calibri" pitchFamily="34" charset="-122"/>
                <a:cs typeface="Calibri" pitchFamily="34" charset="-120"/>
              </a:rPr>
              <a:t>Estas seis constituyen el residuo genuino de la indistinguibilidad estadística planteada al inicio del trabajo: la conclusión negativa original queda acotada a ellas, no a las veintinueve.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RESULTADO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Síntesis del frente de archivos cifrados</a:t>
            </a:r>
            <a:endParaRPr lang="en-US" sz="3000" dirty="0"/>
          </a:p>
        </p:txBody>
      </p:sp>
      <p:pic>
        <p:nvPicPr>
          <p:cNvPr id="4" name="Image 0" descr="C:/Users/Romina/Tesis/1_documento/Plantilla_de_Tesis___Romina_Carlos/images/fig_progresion_archivos.png">    </p:cNvPr>
          <p:cNvPicPr>
            <a:picLocks noChangeAspect="1"/>
          </p:cNvPicPr>
          <p:nvPr/>
        </p:nvPicPr>
        <p:blipFill>
          <a:blip r:embed="rId1"/>
          <a:stretch>
            <a:fillRect/>
          </a:stretch>
        </p:blipFill>
        <p:spPr>
          <a:xfrm>
            <a:off x="1188720" y="1325880"/>
            <a:ext cx="7863840" cy="3931920"/>
          </a:xfrm>
          <a:prstGeom prst="rect">
            <a:avLst/>
          </a:prstGeom>
        </p:spPr>
      </p:pic>
      <p:sp>
        <p:nvSpPr>
          <p:cNvPr id="5" name="Shape 2"/>
          <p:cNvSpPr/>
          <p:nvPr/>
        </p:nvSpPr>
        <p:spPr>
          <a:xfrm>
            <a:off x="9326880" y="1325880"/>
            <a:ext cx="2286000" cy="3931920"/>
          </a:xfrm>
          <a:prstGeom prst="roundRect">
            <a:avLst>
              <a:gd name="adj" fmla="val 3200"/>
            </a:avLst>
          </a:prstGeom>
          <a:solidFill>
            <a:srgbClr val="F4F6FB"/>
          </a:solidFill>
          <a:ln w="12700">
            <a:solidFill>
              <a:srgbClr val="E2E8F5"/>
            </a:solidFill>
            <a:prstDash val="solid"/>
          </a:ln>
        </p:spPr>
      </p:sp>
      <p:sp>
        <p:nvSpPr>
          <p:cNvPr id="6" name="Text 3"/>
          <p:cNvSpPr/>
          <p:nvPr/>
        </p:nvSpPr>
        <p:spPr>
          <a:xfrm>
            <a:off x="9555480" y="1554480"/>
            <a:ext cx="1828800" cy="640080"/>
          </a:xfrm>
          <a:prstGeom prst="rect">
            <a:avLst/>
          </a:prstGeom>
          <a:noFill/>
          <a:ln/>
        </p:spPr>
        <p:txBody>
          <a:bodyPr wrap="square" lIns="0" tIns="0" rIns="0" bIns="0" rtlCol="0" anchor="ctr"/>
          <a:lstStyle/>
          <a:p>
            <a:pPr indent="0" marL="0">
              <a:lnSpc>
                <a:spcPts val="1800"/>
              </a:lnSpc>
              <a:buNone/>
            </a:pPr>
            <a:r>
              <a:rPr lang="en-US" sz="1200" b="1" dirty="0">
                <a:solidFill>
                  <a:srgbClr val="16233F"/>
                </a:solidFill>
                <a:latin typeface="Calibri" pitchFamily="34" charset="0"/>
                <a:ea typeface="Calibri" pitchFamily="34" charset="-122"/>
                <a:cs typeface="Calibri" pitchFamily="34" charset="-120"/>
              </a:rPr>
              <a:t>Cada etapa responde a una objeción de la anterior</a:t>
            </a:r>
            <a:endParaRPr lang="en-US" sz="1200" dirty="0"/>
          </a:p>
        </p:txBody>
      </p:sp>
      <p:sp>
        <p:nvSpPr>
          <p:cNvPr id="7" name="Text 4"/>
          <p:cNvSpPr/>
          <p:nvPr/>
        </p:nvSpPr>
        <p:spPr>
          <a:xfrm>
            <a:off x="9555480" y="2331720"/>
            <a:ext cx="1828800" cy="2651760"/>
          </a:xfrm>
          <a:prstGeom prst="rect">
            <a:avLst/>
          </a:prstGeom>
          <a:noFill/>
          <a:ln/>
        </p:spPr>
        <p:txBody>
          <a:bodyPr wrap="square" lIns="0" tIns="0" rIns="0" bIns="0" rtlCol="0" anchor="ctr"/>
          <a:lstStyle/>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¿Faltaban características?</a:t>
            </a:r>
            <a:endParaRPr lang="en-US" sz="1100" dirty="0"/>
          </a:p>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 se ampliaron a 275</a:t>
            </a:r>
            <a:endParaRPr lang="en-US" sz="1100" dirty="0"/>
          </a:p>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¿Dónde está la señal?</a:t>
            </a:r>
            <a:endParaRPr lang="en-US" sz="1100" dirty="0"/>
          </a:p>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 en las firmas</a:t>
            </a:r>
            <a:endParaRPr lang="en-US" sz="1100" dirty="0"/>
          </a:p>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¿Y la mitad restante?</a:t>
            </a:r>
            <a:endParaRPr lang="en-US" sz="1100" dirty="0"/>
          </a:p>
          <a:p>
            <a:pPr indent="0" marL="0">
              <a:lnSpc>
                <a:spcPts val="1700"/>
              </a:lnSpc>
              <a:buNone/>
            </a:pPr>
            <a:r>
              <a:rPr lang="en-US" sz="1100" dirty="0">
                <a:solidFill>
                  <a:srgbClr val="374151"/>
                </a:solidFill>
                <a:latin typeface="Calibri" pitchFamily="34" charset="0"/>
                <a:ea typeface="Calibri" pitchFamily="34" charset="-122"/>
                <a:cs typeface="Calibri" pitchFamily="34" charset="-120"/>
              </a:rPr>
              <a:t>→ aprendizaje sobre bytes</a:t>
            </a:r>
            <a:endParaRPr lang="en-US" sz="1100" dirty="0"/>
          </a:p>
        </p:txBody>
      </p:sp>
      <p:sp>
        <p:nvSpPr>
          <p:cNvPr id="8" name="Text 5"/>
          <p:cNvSpPr/>
          <p:nvPr/>
        </p:nvSpPr>
        <p:spPr>
          <a:xfrm>
            <a:off x="548640" y="5532120"/>
            <a:ext cx="11064240" cy="685800"/>
          </a:xfrm>
          <a:prstGeom prst="rect">
            <a:avLst/>
          </a:prstGeom>
          <a:noFill/>
          <a:ln/>
        </p:spPr>
        <p:txBody>
          <a:bodyPr wrap="square" lIns="0" tIns="0" rIns="0" bIns="0" rtlCol="0" anchor="ctr"/>
          <a:lstStyle/>
          <a:p>
            <a:pPr algn="ctr" indent="0" marL="0">
              <a:lnSpc>
                <a:spcPts val="2200"/>
              </a:lnSpc>
              <a:buNone/>
            </a:pPr>
            <a:r>
              <a:rPr lang="en-US" sz="1400" b="1" dirty="0">
                <a:solidFill>
                  <a:srgbClr val="16233F"/>
                </a:solidFill>
                <a:latin typeface="Calibri" pitchFamily="34" charset="0"/>
                <a:ea typeface="Calibri" pitchFamily="34" charset="-122"/>
                <a:cs typeface="Calibri" pitchFamily="34" charset="-120"/>
              </a:rPr>
              <a:t>La indistinguibilidad estadística es real, pero se limita a seis de las veintinueve familias evaluadas: aquellas que cifran sin dejar estructura reconocible.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APORTE CONCEPTUAL</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Ambos artefactos enseñan lo mismo</a:t>
            </a:r>
            <a:endParaRPr lang="en-US" sz="3000" dirty="0"/>
          </a:p>
        </p:txBody>
      </p:sp>
      <p:pic>
        <p:nvPicPr>
          <p:cNvPr id="4" name="Image 0" descr="C:/Users/Romina/Tesis/1_documento/Plantilla_de_Tesis___Romina_Carlos/images/fig_simetria_frentes.png">    </p:cNvPr>
          <p:cNvPicPr>
            <a:picLocks noChangeAspect="1"/>
          </p:cNvPicPr>
          <p:nvPr/>
        </p:nvPicPr>
        <p:blipFill>
          <a:blip r:embed="rId1"/>
          <a:stretch>
            <a:fillRect/>
          </a:stretch>
        </p:blipFill>
        <p:spPr>
          <a:xfrm>
            <a:off x="640080" y="1371600"/>
            <a:ext cx="6766560" cy="3474720"/>
          </a:xfrm>
          <a:prstGeom prst="rect">
            <a:avLst/>
          </a:prstGeom>
        </p:spPr>
      </p:pic>
      <p:sp>
        <p:nvSpPr>
          <p:cNvPr id="5" name="Shape 2"/>
          <p:cNvSpPr/>
          <p:nvPr/>
        </p:nvSpPr>
        <p:spPr>
          <a:xfrm>
            <a:off x="7680960" y="1371600"/>
            <a:ext cx="3931920" cy="3474720"/>
          </a:xfrm>
          <a:prstGeom prst="roundRect">
            <a:avLst>
              <a:gd name="adj" fmla="val 2105"/>
            </a:avLst>
          </a:prstGeom>
          <a:solidFill>
            <a:srgbClr val="16233F"/>
          </a:solidFill>
          <a:ln w="12700">
            <a:solidFill>
              <a:srgbClr val="E2E8F5"/>
            </a:solidFill>
            <a:prstDash val="solid"/>
          </a:ln>
        </p:spPr>
      </p:sp>
      <p:sp>
        <p:nvSpPr>
          <p:cNvPr id="6" name="Text 3"/>
          <p:cNvSpPr/>
          <p:nvPr/>
        </p:nvSpPr>
        <p:spPr>
          <a:xfrm>
            <a:off x="8001000" y="1645920"/>
            <a:ext cx="3291840" cy="1737360"/>
          </a:xfrm>
          <a:prstGeom prst="rect">
            <a:avLst/>
          </a:prstGeom>
          <a:noFill/>
          <a:ln/>
        </p:spPr>
        <p:txBody>
          <a:bodyPr wrap="square" lIns="0" tIns="0" rIns="0" bIns="0" rtlCol="0" anchor="ctr"/>
          <a:lstStyle/>
          <a:p>
            <a:pPr indent="0" marL="0">
              <a:lnSpc>
                <a:spcPts val="2200"/>
              </a:lnSpc>
              <a:buNone/>
            </a:pPr>
            <a:r>
              <a:rPr lang="en-US" sz="1350" dirty="0">
                <a:solidFill>
                  <a:srgbClr val="FFFFFF"/>
                </a:solidFill>
                <a:latin typeface="Calibri" pitchFamily="34" charset="0"/>
                <a:ea typeface="Calibri" pitchFamily="34" charset="-122"/>
                <a:cs typeface="Calibri" pitchFamily="34" charset="-120"/>
              </a:rPr>
              <a:t>En los dos frentes conviven una señal fácil de explotar pero ligada a la campaña concreta, y una señal más difícil pero propia del contenido. No deben confundirse.</a:t>
            </a:r>
            <a:endParaRPr lang="en-US" sz="1350" dirty="0"/>
          </a:p>
        </p:txBody>
      </p:sp>
      <p:sp>
        <p:nvSpPr>
          <p:cNvPr id="7" name="Text 4"/>
          <p:cNvSpPr/>
          <p:nvPr/>
        </p:nvSpPr>
        <p:spPr>
          <a:xfrm>
            <a:off x="8001000" y="3429000"/>
            <a:ext cx="3291840" cy="1234440"/>
          </a:xfrm>
          <a:prstGeom prst="rect">
            <a:avLst/>
          </a:prstGeom>
          <a:noFill/>
          <a:ln/>
        </p:spPr>
        <p:txBody>
          <a:bodyPr wrap="square" lIns="0" tIns="0" rIns="0" bIns="0" rtlCol="0" anchor="ctr"/>
          <a:lstStyle/>
          <a:p>
            <a:pPr indent="0" marL="0">
              <a:lnSpc>
                <a:spcPts val="1900"/>
              </a:lnSpc>
              <a:buNone/>
            </a:pPr>
            <a:r>
              <a:rPr lang="en-US" sz="1200" dirty="0">
                <a:solidFill>
                  <a:srgbClr val="D6E0F5"/>
                </a:solidFill>
                <a:latin typeface="Calibri" pitchFamily="34" charset="0"/>
                <a:ea typeface="Calibri" pitchFamily="34" charset="-122"/>
                <a:cs typeface="Calibri" pitchFamily="34" charset="-120"/>
              </a:rPr>
              <a:t>Explica por qué las herramientas basadas en catálogos de reglas funcionan sobre campañas conocidas y requieren actualización permanente.</a:t>
            </a:r>
            <a:endParaRPr lang="en-US" sz="1200" dirty="0"/>
          </a:p>
        </p:txBody>
      </p:sp>
      <p:sp>
        <p:nvSpPr>
          <p:cNvPr id="8" name="Text 5"/>
          <p:cNvSpPr/>
          <p:nvPr/>
        </p:nvSpPr>
        <p:spPr>
          <a:xfrm>
            <a:off x="640080" y="5120640"/>
            <a:ext cx="10972800" cy="777240"/>
          </a:xfrm>
          <a:prstGeom prst="rect">
            <a:avLst/>
          </a:prstGeom>
          <a:noFill/>
          <a:ln/>
        </p:spPr>
        <p:txBody>
          <a:bodyPr wrap="square" lIns="0" tIns="0" rIns="0" bIns="0" rtlCol="0" anchor="ctr"/>
          <a:lstStyle/>
          <a:p>
            <a:pPr indent="0" marL="0">
              <a:lnSpc>
                <a:spcPts val="2100"/>
              </a:lnSpc>
              <a:buNone/>
            </a:pPr>
            <a:r>
              <a:rPr lang="en-US" sz="1300" dirty="0">
                <a:solidFill>
                  <a:srgbClr val="374151"/>
                </a:solidFill>
                <a:latin typeface="Calibri" pitchFamily="34" charset="0"/>
                <a:ea typeface="Calibri" pitchFamily="34" charset="-122"/>
                <a:cs typeface="Calibri" pitchFamily="34" charset="-120"/>
              </a:rPr>
              <a:t>Notas: la plantilla concreta infla el resultado (0,760 frente a 0,435).   ·   Archivos: la extensión identifica la campaña, mientras que el contenido resulta más estable y alcanza 0,910.</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EXPERIMENTO PROPIO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Comparación con las herramientas existentes</a:t>
            </a:r>
            <a:endParaRPr lang="en-US" sz="3000" dirty="0"/>
          </a:p>
        </p:txBody>
      </p:sp>
      <p:sp>
        <p:nvSpPr>
          <p:cNvPr id="4" name="Text 2"/>
          <p:cNvSpPr/>
          <p:nvPr/>
        </p:nvSpPr>
        <p:spPr>
          <a:xfrm>
            <a:off x="548640" y="1463040"/>
            <a:ext cx="11064240" cy="640080"/>
          </a:xfrm>
          <a:prstGeom prst="rect">
            <a:avLst/>
          </a:prstGeom>
          <a:noFill/>
          <a:ln/>
        </p:spPr>
        <p:txBody>
          <a:bodyPr wrap="square" lIns="0" tIns="0" rIns="0" bIns="0" rtlCol="0" anchor="ctr"/>
          <a:lstStyle/>
          <a:p>
            <a:pPr indent="0" marL="0">
              <a:lnSpc>
                <a:spcPts val="2300"/>
              </a:lnSpc>
              <a:buNone/>
            </a:pPr>
            <a:r>
              <a:rPr lang="en-US" sz="1450" dirty="0">
                <a:solidFill>
                  <a:srgbClr val="374151"/>
                </a:solidFill>
                <a:latin typeface="Calibri" pitchFamily="34" charset="0"/>
                <a:ea typeface="Calibri" pitchFamily="34" charset="-122"/>
                <a:cs typeface="Calibri" pitchFamily="34" charset="-120"/>
              </a:rPr>
              <a:t>Se documentó formalmente la metodología de las pruebas realizadas sobre CryptoSheriff e ID Ransomware, conforme a lo solicitado en la reunión del 08/05/2024.</a:t>
            </a:r>
            <a:endParaRPr lang="en-US" sz="1450" dirty="0"/>
          </a:p>
        </p:txBody>
      </p:sp>
      <p:sp>
        <p:nvSpPr>
          <p:cNvPr id="5" name="Shape 3"/>
          <p:cNvSpPr/>
          <p:nvPr/>
        </p:nvSpPr>
        <p:spPr>
          <a:xfrm>
            <a:off x="548640" y="2331720"/>
            <a:ext cx="11064240" cy="603504"/>
          </a:xfrm>
          <a:prstGeom prst="roundRect">
            <a:avLst>
              <a:gd name="adj" fmla="val 12121"/>
            </a:avLst>
          </a:prstGeom>
          <a:solidFill>
            <a:srgbClr val="F4F6FB"/>
          </a:solidFill>
          <a:ln w="12700">
            <a:solidFill>
              <a:srgbClr val="E2E8F5"/>
            </a:solidFill>
            <a:prstDash val="solid"/>
          </a:ln>
        </p:spPr>
      </p:sp>
      <p:sp>
        <p:nvSpPr>
          <p:cNvPr id="6" name="Text 4"/>
          <p:cNvSpPr/>
          <p:nvPr/>
        </p:nvSpPr>
        <p:spPr>
          <a:xfrm>
            <a:off x="822960" y="2459736"/>
            <a:ext cx="2926080" cy="36576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CryptoSheriff</a:t>
            </a:r>
            <a:endParaRPr lang="en-US" sz="1350" dirty="0"/>
          </a:p>
        </p:txBody>
      </p:sp>
      <p:sp>
        <p:nvSpPr>
          <p:cNvPr id="7" name="Text 5"/>
          <p:cNvSpPr/>
          <p:nvPr/>
        </p:nvSpPr>
        <p:spPr>
          <a:xfrm>
            <a:off x="3840480" y="2468880"/>
            <a:ext cx="292608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archivos cifrados</a:t>
            </a:r>
            <a:endParaRPr lang="en-US" sz="1250" dirty="0"/>
          </a:p>
        </p:txBody>
      </p:sp>
      <p:sp>
        <p:nvSpPr>
          <p:cNvPr id="8" name="Text 6"/>
          <p:cNvSpPr/>
          <p:nvPr/>
        </p:nvSpPr>
        <p:spPr>
          <a:xfrm>
            <a:off x="6949440" y="2468880"/>
            <a:ext cx="146304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5 / 30</a:t>
            </a:r>
            <a:endParaRPr lang="en-US" sz="1250" dirty="0"/>
          </a:p>
        </p:txBody>
      </p:sp>
      <p:sp>
        <p:nvSpPr>
          <p:cNvPr id="9" name="Text 7"/>
          <p:cNvSpPr/>
          <p:nvPr/>
        </p:nvSpPr>
        <p:spPr>
          <a:xfrm>
            <a:off x="8778240" y="2432304"/>
            <a:ext cx="2560320" cy="402336"/>
          </a:xfrm>
          <a:prstGeom prst="rect">
            <a:avLst/>
          </a:prstGeom>
          <a:noFill/>
          <a:ln/>
        </p:spPr>
        <p:txBody>
          <a:bodyPr wrap="square" lIns="0" tIns="0" rIns="0" bIns="0" rtlCol="0" anchor="ctr"/>
          <a:lstStyle/>
          <a:p>
            <a:pPr algn="r" indent="0" marL="0">
              <a:buNone/>
            </a:pPr>
            <a:r>
              <a:rPr lang="en-US" sz="1600" b="1" dirty="0">
                <a:solidFill>
                  <a:srgbClr val="6B7280"/>
                </a:solidFill>
                <a:latin typeface="Calibri" pitchFamily="34" charset="0"/>
                <a:ea typeface="Calibri" pitchFamily="34" charset="-122"/>
                <a:cs typeface="Calibri" pitchFamily="34" charset="-120"/>
              </a:rPr>
              <a:t>16,67 %</a:t>
            </a:r>
            <a:endParaRPr lang="en-US" sz="1600" dirty="0"/>
          </a:p>
        </p:txBody>
      </p:sp>
      <p:sp>
        <p:nvSpPr>
          <p:cNvPr id="10" name="Shape 8"/>
          <p:cNvSpPr/>
          <p:nvPr/>
        </p:nvSpPr>
        <p:spPr>
          <a:xfrm>
            <a:off x="548640" y="3063240"/>
            <a:ext cx="11064240" cy="603504"/>
          </a:xfrm>
          <a:prstGeom prst="roundRect">
            <a:avLst>
              <a:gd name="adj" fmla="val 12121"/>
            </a:avLst>
          </a:prstGeom>
          <a:solidFill>
            <a:srgbClr val="F4F6FB"/>
          </a:solidFill>
          <a:ln w="12700">
            <a:solidFill>
              <a:srgbClr val="E2E8F5"/>
            </a:solidFill>
            <a:prstDash val="solid"/>
          </a:ln>
        </p:spPr>
      </p:sp>
      <p:sp>
        <p:nvSpPr>
          <p:cNvPr id="11" name="Text 9"/>
          <p:cNvSpPr/>
          <p:nvPr/>
        </p:nvSpPr>
        <p:spPr>
          <a:xfrm>
            <a:off x="822960" y="3191256"/>
            <a:ext cx="2926080" cy="36576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ID Ransomware</a:t>
            </a:r>
            <a:endParaRPr lang="en-US" sz="1350" dirty="0"/>
          </a:p>
        </p:txBody>
      </p:sp>
      <p:sp>
        <p:nvSpPr>
          <p:cNvPr id="12" name="Text 10"/>
          <p:cNvSpPr/>
          <p:nvPr/>
        </p:nvSpPr>
        <p:spPr>
          <a:xfrm>
            <a:off x="3840480" y="3200400"/>
            <a:ext cx="292608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archivos cifrados</a:t>
            </a:r>
            <a:endParaRPr lang="en-US" sz="1250" dirty="0"/>
          </a:p>
        </p:txBody>
      </p:sp>
      <p:sp>
        <p:nvSpPr>
          <p:cNvPr id="13" name="Text 11"/>
          <p:cNvSpPr/>
          <p:nvPr/>
        </p:nvSpPr>
        <p:spPr>
          <a:xfrm>
            <a:off x="6949440" y="3200400"/>
            <a:ext cx="146304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20 / 30</a:t>
            </a:r>
            <a:endParaRPr lang="en-US" sz="1250" dirty="0"/>
          </a:p>
        </p:txBody>
      </p:sp>
      <p:sp>
        <p:nvSpPr>
          <p:cNvPr id="14" name="Text 12"/>
          <p:cNvSpPr/>
          <p:nvPr/>
        </p:nvSpPr>
        <p:spPr>
          <a:xfrm>
            <a:off x="8778240" y="3163824"/>
            <a:ext cx="2560320" cy="402336"/>
          </a:xfrm>
          <a:prstGeom prst="rect">
            <a:avLst/>
          </a:prstGeom>
          <a:noFill/>
          <a:ln/>
        </p:spPr>
        <p:txBody>
          <a:bodyPr wrap="square" lIns="0" tIns="0" rIns="0" bIns="0" rtlCol="0" anchor="ctr"/>
          <a:lstStyle/>
          <a:p>
            <a:pPr algn="r" indent="0" marL="0">
              <a:buNone/>
            </a:pPr>
            <a:r>
              <a:rPr lang="en-US" sz="1600" b="1" dirty="0">
                <a:solidFill>
                  <a:srgbClr val="6B7280"/>
                </a:solidFill>
                <a:latin typeface="Calibri" pitchFamily="34" charset="0"/>
                <a:ea typeface="Calibri" pitchFamily="34" charset="-122"/>
                <a:cs typeface="Calibri" pitchFamily="34" charset="-120"/>
              </a:rPr>
              <a:t>66,67 %</a:t>
            </a:r>
            <a:endParaRPr lang="en-US" sz="1600" dirty="0"/>
          </a:p>
        </p:txBody>
      </p:sp>
      <p:sp>
        <p:nvSpPr>
          <p:cNvPr id="15" name="Shape 13"/>
          <p:cNvSpPr/>
          <p:nvPr/>
        </p:nvSpPr>
        <p:spPr>
          <a:xfrm>
            <a:off x="548640" y="3794760"/>
            <a:ext cx="11064240" cy="603504"/>
          </a:xfrm>
          <a:prstGeom prst="roundRect">
            <a:avLst>
              <a:gd name="adj" fmla="val 12121"/>
            </a:avLst>
          </a:prstGeom>
          <a:solidFill>
            <a:srgbClr val="F4F6FB"/>
          </a:solidFill>
          <a:ln w="12700">
            <a:solidFill>
              <a:srgbClr val="E2E8F5"/>
            </a:solidFill>
            <a:prstDash val="solid"/>
          </a:ln>
        </p:spPr>
      </p:sp>
      <p:sp>
        <p:nvSpPr>
          <p:cNvPr id="16" name="Text 14"/>
          <p:cNvSpPr/>
          <p:nvPr/>
        </p:nvSpPr>
        <p:spPr>
          <a:xfrm>
            <a:off x="822960" y="3922776"/>
            <a:ext cx="2926080" cy="36576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ID Ransomware</a:t>
            </a:r>
            <a:endParaRPr lang="en-US" sz="1350" dirty="0"/>
          </a:p>
        </p:txBody>
      </p:sp>
      <p:sp>
        <p:nvSpPr>
          <p:cNvPr id="17" name="Text 15"/>
          <p:cNvSpPr/>
          <p:nvPr/>
        </p:nvSpPr>
        <p:spPr>
          <a:xfrm>
            <a:off x="3840480" y="3931920"/>
            <a:ext cx="292608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notas de rescate</a:t>
            </a:r>
            <a:endParaRPr lang="en-US" sz="1250" dirty="0"/>
          </a:p>
        </p:txBody>
      </p:sp>
      <p:sp>
        <p:nvSpPr>
          <p:cNvPr id="18" name="Text 16"/>
          <p:cNvSpPr/>
          <p:nvPr/>
        </p:nvSpPr>
        <p:spPr>
          <a:xfrm>
            <a:off x="6949440" y="3931920"/>
            <a:ext cx="146304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41 / 57</a:t>
            </a:r>
            <a:endParaRPr lang="en-US" sz="1250" dirty="0"/>
          </a:p>
        </p:txBody>
      </p:sp>
      <p:sp>
        <p:nvSpPr>
          <p:cNvPr id="19" name="Text 17"/>
          <p:cNvSpPr/>
          <p:nvPr/>
        </p:nvSpPr>
        <p:spPr>
          <a:xfrm>
            <a:off x="8778240" y="3895344"/>
            <a:ext cx="2560320" cy="402336"/>
          </a:xfrm>
          <a:prstGeom prst="rect">
            <a:avLst/>
          </a:prstGeom>
          <a:noFill/>
          <a:ln/>
        </p:spPr>
        <p:txBody>
          <a:bodyPr wrap="square" lIns="0" tIns="0" rIns="0" bIns="0" rtlCol="0" anchor="ctr"/>
          <a:lstStyle/>
          <a:p>
            <a:pPr algn="r" indent="0" marL="0">
              <a:buNone/>
            </a:pPr>
            <a:r>
              <a:rPr lang="en-US" sz="1600" b="1" dirty="0">
                <a:solidFill>
                  <a:srgbClr val="2E4374"/>
                </a:solidFill>
                <a:latin typeface="Calibri" pitchFamily="34" charset="0"/>
                <a:ea typeface="Calibri" pitchFamily="34" charset="-122"/>
                <a:cs typeface="Calibri" pitchFamily="34" charset="-120"/>
              </a:rPr>
              <a:t>71,93 %</a:t>
            </a:r>
            <a:endParaRPr lang="en-US" sz="1600" dirty="0"/>
          </a:p>
        </p:txBody>
      </p:sp>
      <p:sp>
        <p:nvSpPr>
          <p:cNvPr id="20" name="Shape 18"/>
          <p:cNvSpPr/>
          <p:nvPr/>
        </p:nvSpPr>
        <p:spPr>
          <a:xfrm>
            <a:off x="548640" y="4526280"/>
            <a:ext cx="11064240" cy="603504"/>
          </a:xfrm>
          <a:prstGeom prst="roundRect">
            <a:avLst>
              <a:gd name="adj" fmla="val 12121"/>
            </a:avLst>
          </a:prstGeom>
          <a:solidFill>
            <a:srgbClr val="EFF6F1"/>
          </a:solidFill>
          <a:ln w="12700">
            <a:solidFill>
              <a:srgbClr val="E2E8F5"/>
            </a:solidFill>
            <a:prstDash val="solid"/>
          </a:ln>
        </p:spPr>
      </p:sp>
      <p:sp>
        <p:nvSpPr>
          <p:cNvPr id="21" name="Text 19"/>
          <p:cNvSpPr/>
          <p:nvPr/>
        </p:nvSpPr>
        <p:spPr>
          <a:xfrm>
            <a:off x="822960" y="4654296"/>
            <a:ext cx="2926080" cy="36576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Este trabajo (P1)</a:t>
            </a:r>
            <a:endParaRPr lang="en-US" sz="1350" dirty="0"/>
          </a:p>
        </p:txBody>
      </p:sp>
      <p:sp>
        <p:nvSpPr>
          <p:cNvPr id="22" name="Text 20"/>
          <p:cNvSpPr/>
          <p:nvPr/>
        </p:nvSpPr>
        <p:spPr>
          <a:xfrm>
            <a:off x="3840480" y="4663440"/>
            <a:ext cx="292608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notas de rescate</a:t>
            </a:r>
            <a:endParaRPr lang="en-US" sz="1250" dirty="0"/>
          </a:p>
        </p:txBody>
      </p:sp>
      <p:sp>
        <p:nvSpPr>
          <p:cNvPr id="23" name="Text 21"/>
          <p:cNvSpPr/>
          <p:nvPr/>
        </p:nvSpPr>
        <p:spPr>
          <a:xfrm>
            <a:off x="6949440" y="4663440"/>
            <a:ext cx="146304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8778240" y="4626864"/>
            <a:ext cx="2560320" cy="402336"/>
          </a:xfrm>
          <a:prstGeom prst="rect">
            <a:avLst/>
          </a:prstGeom>
          <a:noFill/>
          <a:ln/>
        </p:spPr>
        <p:txBody>
          <a:bodyPr wrap="square" lIns="0" tIns="0" rIns="0" bIns="0" rtlCol="0" anchor="ctr"/>
          <a:lstStyle/>
          <a:p>
            <a:pPr algn="r" indent="0" marL="0">
              <a:buNone/>
            </a:pPr>
            <a:r>
              <a:rPr lang="en-US" sz="1600" b="1" dirty="0">
                <a:solidFill>
                  <a:srgbClr val="3F7D5C"/>
                </a:solidFill>
                <a:latin typeface="Calibri" pitchFamily="34" charset="0"/>
                <a:ea typeface="Calibri" pitchFamily="34" charset="-122"/>
                <a:cs typeface="Calibri" pitchFamily="34" charset="-120"/>
              </a:rPr>
              <a:t>81,8 %</a:t>
            </a:r>
            <a:endParaRPr lang="en-US" sz="1600" dirty="0"/>
          </a:p>
        </p:txBody>
      </p:sp>
      <p:sp>
        <p:nvSpPr>
          <p:cNvPr id="25" name="Shape 23"/>
          <p:cNvSpPr/>
          <p:nvPr/>
        </p:nvSpPr>
        <p:spPr>
          <a:xfrm>
            <a:off x="548640" y="5257800"/>
            <a:ext cx="11064240" cy="603504"/>
          </a:xfrm>
          <a:prstGeom prst="roundRect">
            <a:avLst>
              <a:gd name="adj" fmla="val 12121"/>
            </a:avLst>
          </a:prstGeom>
          <a:solidFill>
            <a:srgbClr val="EFF6F1"/>
          </a:solidFill>
          <a:ln w="12700">
            <a:solidFill>
              <a:srgbClr val="E2E8F5"/>
            </a:solidFill>
            <a:prstDash val="solid"/>
          </a:ln>
        </p:spPr>
      </p:sp>
      <p:sp>
        <p:nvSpPr>
          <p:cNvPr id="26" name="Text 24"/>
          <p:cNvSpPr/>
          <p:nvPr/>
        </p:nvSpPr>
        <p:spPr>
          <a:xfrm>
            <a:off x="822960" y="5385816"/>
            <a:ext cx="2926080" cy="365760"/>
          </a:xfrm>
          <a:prstGeom prst="rect">
            <a:avLst/>
          </a:prstGeom>
          <a:noFill/>
          <a:ln/>
        </p:spPr>
        <p:txBody>
          <a:bodyPr wrap="square" lIns="0" tIns="0" rIns="0" bIns="0" rtlCol="0" anchor="ctr"/>
          <a:lstStyle/>
          <a:p>
            <a:pPr indent="0" marL="0">
              <a:buNone/>
            </a:pPr>
            <a:r>
              <a:rPr lang="en-US" sz="1350" b="1" dirty="0">
                <a:solidFill>
                  <a:srgbClr val="16233F"/>
                </a:solidFill>
                <a:latin typeface="Calibri" pitchFamily="34" charset="0"/>
                <a:ea typeface="Calibri" pitchFamily="34" charset="-122"/>
                <a:cs typeface="Calibri" pitchFamily="34" charset="-120"/>
              </a:rPr>
              <a:t>Este trabajo (2c)</a:t>
            </a:r>
            <a:endParaRPr lang="en-US" sz="1350" dirty="0"/>
          </a:p>
        </p:txBody>
      </p:sp>
      <p:sp>
        <p:nvSpPr>
          <p:cNvPr id="27" name="Text 25"/>
          <p:cNvSpPr/>
          <p:nvPr/>
        </p:nvSpPr>
        <p:spPr>
          <a:xfrm>
            <a:off x="3840480" y="5394960"/>
            <a:ext cx="292608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archivos cifrados</a:t>
            </a:r>
            <a:endParaRPr lang="en-US" sz="1250" dirty="0"/>
          </a:p>
        </p:txBody>
      </p:sp>
      <p:sp>
        <p:nvSpPr>
          <p:cNvPr id="28" name="Text 26"/>
          <p:cNvSpPr/>
          <p:nvPr/>
        </p:nvSpPr>
        <p:spPr>
          <a:xfrm>
            <a:off x="6949440" y="5394960"/>
            <a:ext cx="1463040" cy="347472"/>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8778240" y="5358384"/>
            <a:ext cx="2560320" cy="402336"/>
          </a:xfrm>
          <a:prstGeom prst="rect">
            <a:avLst/>
          </a:prstGeom>
          <a:noFill/>
          <a:ln/>
        </p:spPr>
        <p:txBody>
          <a:bodyPr wrap="square" lIns="0" tIns="0" rIns="0" bIns="0" rtlCol="0" anchor="ctr"/>
          <a:lstStyle/>
          <a:p>
            <a:pPr algn="r" indent="0" marL="0">
              <a:buNone/>
            </a:pPr>
            <a:r>
              <a:rPr lang="en-US" sz="1600" b="1" dirty="0">
                <a:solidFill>
                  <a:srgbClr val="3F7D5C"/>
                </a:solidFill>
                <a:latin typeface="Calibri" pitchFamily="34" charset="0"/>
                <a:ea typeface="Calibri" pitchFamily="34" charset="-122"/>
                <a:cs typeface="Calibri" pitchFamily="34" charset="-120"/>
              </a:rPr>
              <a:t>91,0 %</a:t>
            </a:r>
            <a:endParaRPr lang="en-US" sz="1600" dirty="0"/>
          </a:p>
        </p:txBody>
      </p:sp>
      <p:sp>
        <p:nvSpPr>
          <p:cNvPr id="30" name="Text 28"/>
          <p:cNvSpPr/>
          <p:nvPr/>
        </p:nvSpPr>
        <p:spPr>
          <a:xfrm>
            <a:off x="548640" y="6035040"/>
            <a:ext cx="11064240" cy="548640"/>
          </a:xfrm>
          <a:prstGeom prst="rect">
            <a:avLst/>
          </a:prstGeom>
          <a:noFill/>
          <a:ln/>
        </p:spPr>
        <p:txBody>
          <a:bodyPr wrap="square" lIns="0" tIns="0" rIns="0" bIns="0" rtlCol="0" anchor="ctr"/>
          <a:lstStyle/>
          <a:p>
            <a:pPr indent="0" marL="0">
              <a:lnSpc>
                <a:spcPts val="1900"/>
              </a:lnSpc>
              <a:buNone/>
            </a:pPr>
            <a:r>
              <a:rPr lang="en-US" sz="1250" i="1" dirty="0">
                <a:solidFill>
                  <a:srgbClr val="2E4374"/>
                </a:solidFill>
                <a:latin typeface="Calibri" pitchFamily="34" charset="0"/>
                <a:ea typeface="Calibri" pitchFamily="34" charset="-122"/>
                <a:cs typeface="Calibri" pitchFamily="34" charset="-120"/>
              </a:rPr>
              <a:t>De las veinte familias que ID Ransomware identifica por archivo, nueve mantienen la identificación al renombrarlo: la evidencia está en el contenido. Esa observación originó el Experimento 2b.</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VERIFICACIONES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Tres verificaciones que no mejoraron el resultado</a:t>
            </a:r>
            <a:endParaRPr lang="en-US" sz="3000" dirty="0"/>
          </a:p>
        </p:txBody>
      </p:sp>
      <p:sp>
        <p:nvSpPr>
          <p:cNvPr id="4" name="Shape 2"/>
          <p:cNvSpPr/>
          <p:nvPr/>
        </p:nvSpPr>
        <p:spPr>
          <a:xfrm>
            <a:off x="548640" y="1481328"/>
            <a:ext cx="11064240" cy="1280160"/>
          </a:xfrm>
          <a:prstGeom prst="roundRect">
            <a:avLst>
              <a:gd name="adj" fmla="val 5714"/>
            </a:avLst>
          </a:prstGeom>
          <a:solidFill>
            <a:srgbClr val="F4F6FB"/>
          </a:solidFill>
          <a:ln w="12700">
            <a:solidFill>
              <a:srgbClr val="E2E8F5"/>
            </a:solidFill>
            <a:prstDash val="solid"/>
          </a:ln>
        </p:spPr>
      </p:sp>
      <p:sp>
        <p:nvSpPr>
          <p:cNvPr id="5" name="Text 3"/>
          <p:cNvSpPr/>
          <p:nvPr/>
        </p:nvSpPr>
        <p:spPr>
          <a:xfrm>
            <a:off x="868680" y="1600200"/>
            <a:ext cx="7498080" cy="329184"/>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Hiperparámetros del clasificador de notas</a:t>
            </a:r>
            <a:endParaRPr lang="en-US" sz="1500" dirty="0"/>
          </a:p>
        </p:txBody>
      </p:sp>
      <p:sp>
        <p:nvSpPr>
          <p:cNvPr id="6" name="Text 4"/>
          <p:cNvSpPr/>
          <p:nvPr/>
        </p:nvSpPr>
        <p:spPr>
          <a:xfrm>
            <a:off x="868680" y="1938528"/>
            <a:ext cx="7498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840 configuraciones, búsqueda anidada, 10 semillas</a:t>
            </a:r>
            <a:endParaRPr lang="en-US" sz="1150" dirty="0"/>
          </a:p>
        </p:txBody>
      </p:sp>
      <p:sp>
        <p:nvSpPr>
          <p:cNvPr id="7" name="Text 5"/>
          <p:cNvSpPr/>
          <p:nvPr/>
        </p:nvSpPr>
        <p:spPr>
          <a:xfrm>
            <a:off x="868680" y="2258568"/>
            <a:ext cx="7498080" cy="438912"/>
          </a:xfrm>
          <a:prstGeom prst="rect">
            <a:avLst/>
          </a:prstGeom>
          <a:noFill/>
          <a:ln/>
        </p:spPr>
        <p:txBody>
          <a:bodyPr wrap="square" lIns="0" tIns="0" rIns="0" bIns="0" rtlCol="0" anchor="ctr"/>
          <a:lstStyle/>
          <a:p>
            <a:pPr indent="0" marL="0">
              <a:lnSpc>
                <a:spcPts val="1700"/>
              </a:lnSpc>
              <a:buNone/>
            </a:pPr>
            <a:r>
              <a:rPr lang="en-US" sz="1200" dirty="0">
                <a:solidFill>
                  <a:srgbClr val="374151"/>
                </a:solidFill>
                <a:latin typeface="Calibri" pitchFamily="34" charset="0"/>
                <a:ea typeface="Calibri" pitchFamily="34" charset="-122"/>
                <a:cs typeface="Calibri" pitchFamily="34" charset="-120"/>
              </a:rPr>
              <a:t>Sin mejora: las diferencias caen dentro del desvío entre semillas.</a:t>
            </a:r>
            <a:endParaRPr lang="en-US" sz="1200" dirty="0"/>
          </a:p>
        </p:txBody>
      </p:sp>
      <p:sp>
        <p:nvSpPr>
          <p:cNvPr id="8" name="Text 6"/>
          <p:cNvSpPr/>
          <p:nvPr/>
        </p:nvSpPr>
        <p:spPr>
          <a:xfrm>
            <a:off x="8595360" y="1828800"/>
            <a:ext cx="2743200" cy="621792"/>
          </a:xfrm>
          <a:prstGeom prst="rect">
            <a:avLst/>
          </a:prstGeom>
          <a:noFill/>
          <a:ln/>
        </p:spPr>
        <p:txBody>
          <a:bodyPr wrap="square" lIns="0" tIns="0" rIns="0" bIns="0" rtlCol="0" anchor="ctr"/>
          <a:lstStyle/>
          <a:p>
            <a:pPr algn="ctr" indent="0" marL="0">
              <a:lnSpc>
                <a:spcPts val="2000"/>
              </a:lnSpc>
              <a:buNone/>
            </a:pPr>
            <a:r>
              <a:rPr lang="en-US" sz="1600" b="1" dirty="0">
                <a:solidFill>
                  <a:srgbClr val="2E4374"/>
                </a:solidFill>
                <a:latin typeface="Cambria" pitchFamily="34" charset="0"/>
                <a:ea typeface="Cambria" pitchFamily="34" charset="-122"/>
                <a:cs typeface="Cambria" pitchFamily="34" charset="-120"/>
              </a:rPr>
              <a:t>P1 0,775</a:t>
            </a:r>
            <a:endParaRPr lang="en-US" sz="1600" dirty="0"/>
          </a:p>
          <a:p>
            <a:pPr algn="ctr" indent="0" marL="0">
              <a:lnSpc>
                <a:spcPts val="2000"/>
              </a:lnSpc>
              <a:buNone/>
            </a:pPr>
            <a:r>
              <a:rPr lang="en-US" sz="1600" b="1" dirty="0">
                <a:solidFill>
                  <a:srgbClr val="2E4374"/>
                </a:solidFill>
                <a:latin typeface="Cambria" pitchFamily="34" charset="0"/>
                <a:ea typeface="Cambria" pitchFamily="34" charset="-122"/>
                <a:cs typeface="Cambria" pitchFamily="34" charset="-120"/>
              </a:rPr>
              <a:t>P2 0,424</a:t>
            </a:r>
            <a:endParaRPr lang="en-US" sz="1600" dirty="0"/>
          </a:p>
        </p:txBody>
      </p:sp>
      <p:sp>
        <p:nvSpPr>
          <p:cNvPr id="9" name="Shape 7"/>
          <p:cNvSpPr/>
          <p:nvPr/>
        </p:nvSpPr>
        <p:spPr>
          <a:xfrm>
            <a:off x="548640" y="2962656"/>
            <a:ext cx="11064240" cy="1280160"/>
          </a:xfrm>
          <a:prstGeom prst="roundRect">
            <a:avLst>
              <a:gd name="adj" fmla="val 5714"/>
            </a:avLst>
          </a:prstGeom>
          <a:solidFill>
            <a:srgbClr val="F4F6FB"/>
          </a:solidFill>
          <a:ln w="12700">
            <a:solidFill>
              <a:srgbClr val="E2E8F5"/>
            </a:solidFill>
            <a:prstDash val="solid"/>
          </a:ln>
        </p:spPr>
      </p:sp>
      <p:sp>
        <p:nvSpPr>
          <p:cNvPr id="10" name="Text 8"/>
          <p:cNvSpPr/>
          <p:nvPr/>
        </p:nvSpPr>
        <p:spPr>
          <a:xfrm>
            <a:off x="868680" y="3081528"/>
            <a:ext cx="7498080" cy="329184"/>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Abstracción de marcadores variables en las notas</a:t>
            </a:r>
            <a:endParaRPr lang="en-US" sz="1500" dirty="0"/>
          </a:p>
        </p:txBody>
      </p:sp>
      <p:sp>
        <p:nvSpPr>
          <p:cNvPr id="11" name="Text 9"/>
          <p:cNvSpPr/>
          <p:nvPr/>
        </p:nvSpPr>
        <p:spPr>
          <a:xfrm>
            <a:off x="868680" y="3419856"/>
            <a:ext cx="7498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Correos, .onion y Bitcoin sustituidos por etiquetas de tipo</a:t>
            </a:r>
            <a:endParaRPr lang="en-US" sz="1150" dirty="0"/>
          </a:p>
        </p:txBody>
      </p:sp>
      <p:sp>
        <p:nvSpPr>
          <p:cNvPr id="12" name="Text 10"/>
          <p:cNvSpPr/>
          <p:nvPr/>
        </p:nvSpPr>
        <p:spPr>
          <a:xfrm>
            <a:off x="868680" y="3739896"/>
            <a:ext cx="7498080" cy="438912"/>
          </a:xfrm>
          <a:prstGeom prst="rect">
            <a:avLst/>
          </a:prstGeom>
          <a:noFill/>
          <a:ln/>
        </p:spPr>
        <p:txBody>
          <a:bodyPr wrap="square" lIns="0" tIns="0" rIns="0" bIns="0" rtlCol="0" anchor="ctr"/>
          <a:lstStyle/>
          <a:p>
            <a:pPr indent="0" marL="0">
              <a:lnSpc>
                <a:spcPts val="1700"/>
              </a:lnSpc>
              <a:buNone/>
            </a:pPr>
            <a:r>
              <a:rPr lang="en-US" sz="1200" dirty="0">
                <a:solidFill>
                  <a:srgbClr val="374151"/>
                </a:solidFill>
                <a:latin typeface="Calibri" pitchFamily="34" charset="0"/>
                <a:ea typeface="Calibri" pitchFamily="34" charset="-122"/>
                <a:cs typeface="Calibri" pitchFamily="34" charset="-120"/>
              </a:rPr>
              <a:t>Sin efecto. La variabilidad entre plantillas es estructural, no se reduce a datos de contacto.</a:t>
            </a:r>
            <a:endParaRPr lang="en-US" sz="1200" dirty="0"/>
          </a:p>
        </p:txBody>
      </p:sp>
      <p:sp>
        <p:nvSpPr>
          <p:cNvPr id="13" name="Text 11"/>
          <p:cNvSpPr/>
          <p:nvPr/>
        </p:nvSpPr>
        <p:spPr>
          <a:xfrm>
            <a:off x="8595360" y="3310128"/>
            <a:ext cx="2743200" cy="621792"/>
          </a:xfrm>
          <a:prstGeom prst="rect">
            <a:avLst/>
          </a:prstGeom>
          <a:noFill/>
          <a:ln/>
        </p:spPr>
        <p:txBody>
          <a:bodyPr wrap="square" lIns="0" tIns="0" rIns="0" bIns="0" rtlCol="0" anchor="ctr"/>
          <a:lstStyle/>
          <a:p>
            <a:pPr algn="ctr" indent="0" marL="0">
              <a:lnSpc>
                <a:spcPts val="2000"/>
              </a:lnSpc>
              <a:buNone/>
            </a:pPr>
            <a:r>
              <a:rPr lang="en-US" sz="1600" b="1" dirty="0">
                <a:solidFill>
                  <a:srgbClr val="2E4374"/>
                </a:solidFill>
                <a:latin typeface="Cambria" pitchFamily="34" charset="0"/>
                <a:ea typeface="Cambria" pitchFamily="34" charset="-122"/>
                <a:cs typeface="Cambria" pitchFamily="34" charset="-120"/>
              </a:rPr>
              <a:t>P2 −0,010</a:t>
            </a:r>
            <a:endParaRPr lang="en-US" sz="1600" dirty="0"/>
          </a:p>
        </p:txBody>
      </p:sp>
      <p:sp>
        <p:nvSpPr>
          <p:cNvPr id="14" name="Shape 12"/>
          <p:cNvSpPr/>
          <p:nvPr/>
        </p:nvSpPr>
        <p:spPr>
          <a:xfrm>
            <a:off x="548640" y="4443984"/>
            <a:ext cx="11064240" cy="1280160"/>
          </a:xfrm>
          <a:prstGeom prst="roundRect">
            <a:avLst>
              <a:gd name="adj" fmla="val 5714"/>
            </a:avLst>
          </a:prstGeom>
          <a:solidFill>
            <a:srgbClr val="F4F6FB"/>
          </a:solidFill>
          <a:ln w="12700">
            <a:solidFill>
              <a:srgbClr val="E2E8F5"/>
            </a:solidFill>
            <a:prstDash val="solid"/>
          </a:ln>
        </p:spPr>
      </p:sp>
      <p:sp>
        <p:nvSpPr>
          <p:cNvPr id="15" name="Text 13"/>
          <p:cNvSpPr/>
          <p:nvPr/>
        </p:nvSpPr>
        <p:spPr>
          <a:xfrm>
            <a:off x="868680" y="4562856"/>
            <a:ext cx="7498080" cy="329184"/>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Hiperparámetros de las características estadísticas</a:t>
            </a:r>
            <a:endParaRPr lang="en-US" sz="1500" dirty="0"/>
          </a:p>
        </p:txBody>
      </p:sp>
      <p:sp>
        <p:nvSpPr>
          <p:cNvPr id="16" name="Text 14"/>
          <p:cNvSpPr/>
          <p:nvPr/>
        </p:nvSpPr>
        <p:spPr>
          <a:xfrm>
            <a:off x="868680" y="4901184"/>
            <a:ext cx="7498080" cy="292608"/>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Cuatro combinaciones de modelo y subconjunto; hasta 2,5 h de cómputo cada una</a:t>
            </a:r>
            <a:endParaRPr lang="en-US" sz="1150" dirty="0"/>
          </a:p>
        </p:txBody>
      </p:sp>
      <p:sp>
        <p:nvSpPr>
          <p:cNvPr id="17" name="Text 15"/>
          <p:cNvSpPr/>
          <p:nvPr/>
        </p:nvSpPr>
        <p:spPr>
          <a:xfrm>
            <a:off x="868680" y="5221224"/>
            <a:ext cx="7498080" cy="438912"/>
          </a:xfrm>
          <a:prstGeom prst="rect">
            <a:avLst/>
          </a:prstGeom>
          <a:noFill/>
          <a:ln/>
        </p:spPr>
        <p:txBody>
          <a:bodyPr wrap="square" lIns="0" tIns="0" rIns="0" bIns="0" rtlCol="0" anchor="ctr"/>
          <a:lstStyle/>
          <a:p>
            <a:pPr indent="0" marL="0">
              <a:lnSpc>
                <a:spcPts val="1700"/>
              </a:lnSpc>
              <a:buNone/>
            </a:pPr>
            <a:r>
              <a:rPr lang="en-US" sz="1200" dirty="0">
                <a:solidFill>
                  <a:srgbClr val="374151"/>
                </a:solidFill>
                <a:latin typeface="Calibri" pitchFamily="34" charset="0"/>
                <a:ea typeface="Calibri" pitchFamily="34" charset="-122"/>
                <a:cs typeface="Calibri" pitchFamily="34" charset="-120"/>
              </a:rPr>
              <a:t>Sin variación alguna. El resultado es indiferente tanto a los hiperparámetros como al número de características: 275 rinden igual que 19.</a:t>
            </a:r>
            <a:endParaRPr lang="en-US" sz="1200" dirty="0"/>
          </a:p>
        </p:txBody>
      </p:sp>
      <p:sp>
        <p:nvSpPr>
          <p:cNvPr id="18" name="Text 16"/>
          <p:cNvSpPr/>
          <p:nvPr/>
        </p:nvSpPr>
        <p:spPr>
          <a:xfrm>
            <a:off x="8595360" y="4791456"/>
            <a:ext cx="2743200" cy="621792"/>
          </a:xfrm>
          <a:prstGeom prst="rect">
            <a:avLst/>
          </a:prstGeom>
          <a:noFill/>
          <a:ln/>
        </p:spPr>
        <p:txBody>
          <a:bodyPr wrap="square" lIns="0" tIns="0" rIns="0" bIns="0" rtlCol="0" anchor="ctr"/>
          <a:lstStyle/>
          <a:p>
            <a:pPr algn="ctr" indent="0" marL="0">
              <a:lnSpc>
                <a:spcPts val="2000"/>
              </a:lnSpc>
              <a:buNone/>
            </a:pPr>
            <a:r>
              <a:rPr lang="en-US" sz="1600" b="1" dirty="0">
                <a:solidFill>
                  <a:srgbClr val="2E4374"/>
                </a:solidFill>
                <a:latin typeface="Cambria" pitchFamily="34" charset="0"/>
                <a:ea typeface="Cambria" pitchFamily="34" charset="-122"/>
                <a:cs typeface="Cambria" pitchFamily="34" charset="-120"/>
              </a:rPr>
              <a:t>0,603 → 0,603</a:t>
            </a:r>
            <a:endParaRPr lang="en-US" sz="1600" dirty="0"/>
          </a:p>
        </p:txBody>
      </p:sp>
      <p:sp>
        <p:nvSpPr>
          <p:cNvPr id="19" name="Text 17"/>
          <p:cNvSpPr/>
          <p:nvPr/>
        </p:nvSpPr>
        <p:spPr>
          <a:xfrm>
            <a:off x="548640" y="6035040"/>
            <a:ext cx="11064240" cy="594360"/>
          </a:xfrm>
          <a:prstGeom prst="rect">
            <a:avLst/>
          </a:prstGeom>
          <a:noFill/>
          <a:ln/>
        </p:spPr>
        <p:txBody>
          <a:bodyPr wrap="square" lIns="0" tIns="0" rIns="0" bIns="0" rtlCol="0" anchor="ctr"/>
          <a:lstStyle/>
          <a:p>
            <a:pPr algn="ctr" indent="0" marL="0">
              <a:lnSpc>
                <a:spcPts val="2000"/>
              </a:lnSpc>
              <a:buNone/>
            </a:pPr>
            <a:r>
              <a:rPr lang="en-US" sz="1300" b="1" dirty="0">
                <a:solidFill>
                  <a:srgbClr val="16233F"/>
                </a:solidFill>
                <a:latin typeface="Calibri" pitchFamily="34" charset="0"/>
                <a:ea typeface="Calibri" pitchFamily="34" charset="-122"/>
                <a:cs typeface="Calibri" pitchFamily="34" charset="-120"/>
              </a:rPr>
              <a:t>Los tres apuntan a lo mismo: el techo no está en el método sino en los datos. En las notas, la cantidad de plantillas por familia; en los archivos, la información disponible en las características estadísticas.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120" kern="0" dirty="0">
                <a:solidFill>
                  <a:srgbClr val="E8A33D"/>
                </a:solidFill>
                <a:latin typeface="Calibri" pitchFamily="34" charset="0"/>
                <a:ea typeface="Calibri" pitchFamily="34" charset="-122"/>
                <a:cs typeface="Calibri" pitchFamily="34" charset="-120"/>
              </a:rPr>
              <a:t>SEGUIMIENTO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Indicaciones atendidas</a:t>
            </a:r>
            <a:endParaRPr lang="en-US" sz="3000" dirty="0"/>
          </a:p>
        </p:txBody>
      </p:sp>
      <p:sp>
        <p:nvSpPr>
          <p:cNvPr id="4" name="Shape 2"/>
          <p:cNvSpPr/>
          <p:nvPr/>
        </p:nvSpPr>
        <p:spPr>
          <a:xfrm>
            <a:off x="548640" y="1554480"/>
            <a:ext cx="11064240" cy="914400"/>
          </a:xfrm>
          <a:prstGeom prst="roundRect">
            <a:avLst>
              <a:gd name="adj" fmla="val 8000"/>
            </a:avLst>
          </a:prstGeom>
          <a:solidFill>
            <a:srgbClr val="F4F6FB"/>
          </a:solidFill>
          <a:ln w="12700">
            <a:solidFill>
              <a:srgbClr val="E2E8F5"/>
            </a:solidFill>
            <a:prstDash val="solid"/>
          </a:ln>
        </p:spPr>
      </p:sp>
      <p:sp>
        <p:nvSpPr>
          <p:cNvPr id="5" name="Text 3"/>
          <p:cNvSpPr/>
          <p:nvPr/>
        </p:nvSpPr>
        <p:spPr>
          <a:xfrm>
            <a:off x="822960" y="1828800"/>
            <a:ext cx="1371600" cy="36576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02/05/2024</a:t>
            </a:r>
            <a:endParaRPr lang="en-US" sz="1200" dirty="0"/>
          </a:p>
        </p:txBody>
      </p:sp>
      <p:sp>
        <p:nvSpPr>
          <p:cNvPr id="6" name="Text 4"/>
          <p:cNvSpPr/>
          <p:nvPr/>
        </p:nvSpPr>
        <p:spPr>
          <a:xfrm>
            <a:off x="2286000" y="1810512"/>
            <a:ext cx="4846320" cy="45720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Analizar la variabilidad de las notas de rescate</a:t>
            </a:r>
            <a:endParaRPr lang="en-US" sz="1300" dirty="0"/>
          </a:p>
        </p:txBody>
      </p:sp>
      <p:sp>
        <p:nvSpPr>
          <p:cNvPr id="7" name="Text 5"/>
          <p:cNvSpPr/>
          <p:nvPr/>
        </p:nvSpPr>
        <p:spPr>
          <a:xfrm>
            <a:off x="7223760" y="1828800"/>
            <a:ext cx="365760" cy="365760"/>
          </a:xfrm>
          <a:prstGeom prst="rect">
            <a:avLst/>
          </a:prstGeom>
          <a:noFill/>
          <a:ln/>
        </p:spPr>
        <p:txBody>
          <a:bodyPr wrap="square" lIns="0" tIns="0" rIns="0" bIns="0" rtlCol="0" anchor="ctr"/>
          <a:lstStyle/>
          <a:p>
            <a:pP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7680960" y="1810512"/>
            <a:ext cx="3657600" cy="45720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Hallazgo de las plantillas: 146 notas, 95 contenidos</a:t>
            </a:r>
            <a:endParaRPr lang="en-US" sz="1250" dirty="0"/>
          </a:p>
        </p:txBody>
      </p:sp>
      <p:sp>
        <p:nvSpPr>
          <p:cNvPr id="9" name="Shape 7"/>
          <p:cNvSpPr/>
          <p:nvPr/>
        </p:nvSpPr>
        <p:spPr>
          <a:xfrm>
            <a:off x="548640" y="2651760"/>
            <a:ext cx="11064240" cy="914400"/>
          </a:xfrm>
          <a:prstGeom prst="roundRect">
            <a:avLst>
              <a:gd name="adj" fmla="val 8000"/>
            </a:avLst>
          </a:prstGeom>
          <a:solidFill>
            <a:srgbClr val="FFFFFF"/>
          </a:solidFill>
          <a:ln w="12700">
            <a:solidFill>
              <a:srgbClr val="E2E8F5"/>
            </a:solidFill>
            <a:prstDash val="solid"/>
          </a:ln>
        </p:spPr>
      </p:sp>
      <p:sp>
        <p:nvSpPr>
          <p:cNvPr id="10" name="Text 8"/>
          <p:cNvSpPr/>
          <p:nvPr/>
        </p:nvSpPr>
        <p:spPr>
          <a:xfrm>
            <a:off x="822960" y="2926080"/>
            <a:ext cx="1371600" cy="36576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08/05/2024</a:t>
            </a:r>
            <a:endParaRPr lang="en-US" sz="1200" dirty="0"/>
          </a:p>
        </p:txBody>
      </p:sp>
      <p:sp>
        <p:nvSpPr>
          <p:cNvPr id="11" name="Text 9"/>
          <p:cNvSpPr/>
          <p:nvPr/>
        </p:nvSpPr>
        <p:spPr>
          <a:xfrm>
            <a:off x="2286000" y="2907792"/>
            <a:ext cx="4846320" cy="45720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Describir la metodología de las pruebas con ID Ransomware y CryptoSheriff</a:t>
            </a:r>
            <a:endParaRPr lang="en-US" sz="1300" dirty="0"/>
          </a:p>
        </p:txBody>
      </p:sp>
      <p:sp>
        <p:nvSpPr>
          <p:cNvPr id="12" name="Text 10"/>
          <p:cNvSpPr/>
          <p:nvPr/>
        </p:nvSpPr>
        <p:spPr>
          <a:xfrm>
            <a:off x="7223760" y="2926080"/>
            <a:ext cx="365760" cy="365760"/>
          </a:xfrm>
          <a:prstGeom prst="rect">
            <a:avLst/>
          </a:prstGeom>
          <a:noFill/>
          <a:ln/>
        </p:spPr>
        <p:txBody>
          <a:bodyPr wrap="square" lIns="0" tIns="0" rIns="0" bIns="0" rtlCol="0" anchor="ctr"/>
          <a:lstStyle/>
          <a:p>
            <a:pP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7680960" y="2907792"/>
            <a:ext cx="3657600" cy="45720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Redactadas como experimento propio (§4.9)</a:t>
            </a:r>
            <a:endParaRPr lang="en-US" sz="1250" dirty="0"/>
          </a:p>
        </p:txBody>
      </p:sp>
      <p:sp>
        <p:nvSpPr>
          <p:cNvPr id="14" name="Shape 12"/>
          <p:cNvSpPr/>
          <p:nvPr/>
        </p:nvSpPr>
        <p:spPr>
          <a:xfrm>
            <a:off x="548640" y="3749040"/>
            <a:ext cx="11064240" cy="914400"/>
          </a:xfrm>
          <a:prstGeom prst="roundRect">
            <a:avLst>
              <a:gd name="adj" fmla="val 8000"/>
            </a:avLst>
          </a:prstGeom>
          <a:solidFill>
            <a:srgbClr val="F4F6FB"/>
          </a:solidFill>
          <a:ln w="12700">
            <a:solidFill>
              <a:srgbClr val="E2E8F5"/>
            </a:solidFill>
            <a:prstDash val="solid"/>
          </a:ln>
        </p:spPr>
      </p:sp>
      <p:sp>
        <p:nvSpPr>
          <p:cNvPr id="15" name="Text 13"/>
          <p:cNvSpPr/>
          <p:nvPr/>
        </p:nvSpPr>
        <p:spPr>
          <a:xfrm>
            <a:off x="822960" y="4023360"/>
            <a:ext cx="1371600" cy="36576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11/01/2025</a:t>
            </a:r>
            <a:endParaRPr lang="en-US" sz="1200" dirty="0"/>
          </a:p>
        </p:txBody>
      </p:sp>
      <p:sp>
        <p:nvSpPr>
          <p:cNvPr id="16" name="Text 14"/>
          <p:cNvSpPr/>
          <p:nvPr/>
        </p:nvSpPr>
        <p:spPr>
          <a:xfrm>
            <a:off x="2286000" y="4005072"/>
            <a:ext cx="4846320" cy="45720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Verificar los metadatos de los archivos cifrados</a:t>
            </a:r>
            <a:endParaRPr lang="en-US" sz="1300" dirty="0"/>
          </a:p>
        </p:txBody>
      </p:sp>
      <p:sp>
        <p:nvSpPr>
          <p:cNvPr id="17" name="Text 15"/>
          <p:cNvSpPr/>
          <p:nvPr/>
        </p:nvSpPr>
        <p:spPr>
          <a:xfrm>
            <a:off x="7223760" y="4023360"/>
            <a:ext cx="365760" cy="365760"/>
          </a:xfrm>
          <a:prstGeom prst="rect">
            <a:avLst/>
          </a:prstGeom>
          <a:noFill/>
          <a:ln/>
        </p:spPr>
        <p:txBody>
          <a:bodyPr wrap="square" lIns="0" tIns="0" rIns="0" bIns="0" rtlCol="0" anchor="ctr"/>
          <a:lstStyle/>
          <a:p>
            <a:pP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7680960" y="4005072"/>
            <a:ext cx="3657600" cy="45720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Experimento 2b: firmas descubiertas automáticamente</a:t>
            </a:r>
            <a:endParaRPr lang="en-US" sz="1250" dirty="0"/>
          </a:p>
        </p:txBody>
      </p:sp>
      <p:sp>
        <p:nvSpPr>
          <p:cNvPr id="19" name="Shape 17"/>
          <p:cNvSpPr/>
          <p:nvPr/>
        </p:nvSpPr>
        <p:spPr>
          <a:xfrm>
            <a:off x="548640" y="4846320"/>
            <a:ext cx="11064240" cy="914400"/>
          </a:xfrm>
          <a:prstGeom prst="roundRect">
            <a:avLst>
              <a:gd name="adj" fmla="val 8000"/>
            </a:avLst>
          </a:prstGeom>
          <a:solidFill>
            <a:srgbClr val="FFFFFF"/>
          </a:solidFill>
          <a:ln w="12700">
            <a:solidFill>
              <a:srgbClr val="E2E8F5"/>
            </a:solidFill>
            <a:prstDash val="solid"/>
          </a:ln>
        </p:spPr>
      </p:sp>
      <p:sp>
        <p:nvSpPr>
          <p:cNvPr id="20" name="Text 18"/>
          <p:cNvSpPr/>
          <p:nvPr/>
        </p:nvSpPr>
        <p:spPr>
          <a:xfrm>
            <a:off x="822960" y="5120640"/>
            <a:ext cx="1371600" cy="36576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27/02/2025</a:t>
            </a:r>
            <a:endParaRPr lang="en-US" sz="1200" dirty="0"/>
          </a:p>
        </p:txBody>
      </p:sp>
      <p:sp>
        <p:nvSpPr>
          <p:cNvPr id="21" name="Text 19"/>
          <p:cNvSpPr/>
          <p:nvPr/>
        </p:nvSpPr>
        <p:spPr>
          <a:xfrm>
            <a:off x="2286000" y="5102352"/>
            <a:ext cx="4846320" cy="45720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Clasificación binaria por familia</a:t>
            </a:r>
            <a:endParaRPr lang="en-US" sz="1300" dirty="0"/>
          </a:p>
        </p:txBody>
      </p:sp>
      <p:sp>
        <p:nvSpPr>
          <p:cNvPr id="22" name="Text 20"/>
          <p:cNvSpPr/>
          <p:nvPr/>
        </p:nvSpPr>
        <p:spPr>
          <a:xfrm>
            <a:off x="7223760" y="5120640"/>
            <a:ext cx="365760" cy="365760"/>
          </a:xfrm>
          <a:prstGeom prst="rect">
            <a:avLst/>
          </a:prstGeom>
          <a:noFill/>
          <a:ln/>
        </p:spPr>
        <p:txBody>
          <a:bodyPr wrap="square" lIns="0" tIns="0" rIns="0" bIns="0" rtlCol="0" anchor="ctr"/>
          <a:lstStyle/>
          <a:p>
            <a:pP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680960" y="5102352"/>
            <a:ext cx="3657600" cy="45720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Incorporada al apéndice</a:t>
            </a:r>
            <a:endParaRPr lang="en-US" sz="1250" dirty="0"/>
          </a:p>
        </p:txBody>
      </p:sp>
      <p:sp>
        <p:nvSpPr>
          <p:cNvPr id="24" name="Text 22"/>
          <p:cNvSpPr/>
          <p:nvPr/>
        </p:nvSpPr>
        <p:spPr>
          <a:xfrm>
            <a:off x="548640" y="5989320"/>
            <a:ext cx="11064240" cy="45720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Los experimentos de mayor costo se ejecutaron en el clúster del NIDTEC: 29.029 archivos, 275 características, 5,5 horas de extracción.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33F"/>
        </a:solidFill>
      </p:bgPr>
    </p:bg>
    <p:spTree>
      <p:nvGrpSpPr>
        <p:cNvPr id="1" name=""/>
        <p:cNvGrpSpPr/>
        <p:nvPr/>
      </p:nvGrpSpPr>
      <p:grpSpPr>
        <a:xfrm>
          <a:off x="0" y="0"/>
          <a:ext cx="0" cy="0"/>
          <a:chOff x="0" y="0"/>
          <a:chExt cx="0" cy="0"/>
        </a:xfrm>
      </p:grpSpPr>
      <p:sp>
        <p:nvSpPr>
          <p:cNvPr id="2" name="Text 0"/>
          <p:cNvSpPr/>
          <p:nvPr/>
        </p:nvSpPr>
        <p:spPr>
          <a:xfrm>
            <a:off x="822960" y="64008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Trabajo pendiente y consultas</a:t>
            </a:r>
            <a:endParaRPr lang="en-US" sz="3000" dirty="0"/>
          </a:p>
        </p:txBody>
      </p:sp>
      <p:sp>
        <p:nvSpPr>
          <p:cNvPr id="3" name="Text 1"/>
          <p:cNvSpPr/>
          <p:nvPr/>
        </p:nvSpPr>
        <p:spPr>
          <a:xfrm>
            <a:off x="822960" y="1554480"/>
            <a:ext cx="4937760" cy="274320"/>
          </a:xfrm>
          <a:prstGeom prst="rect">
            <a:avLst/>
          </a:prstGeom>
          <a:noFill/>
          <a:ln/>
        </p:spPr>
        <p:txBody>
          <a:bodyPr wrap="square" lIns="0" tIns="0" rIns="0" bIns="0" rtlCol="0" anchor="ctr"/>
          <a:lstStyle/>
          <a:p>
            <a:pPr indent="0" marL="0">
              <a:buNone/>
            </a:pPr>
            <a:r>
              <a:rPr lang="en-US" sz="1150" b="1" spc="120" kern="0" dirty="0">
                <a:solidFill>
                  <a:srgbClr val="E8A33D"/>
                </a:solidFill>
                <a:latin typeface="Calibri" pitchFamily="34" charset="0"/>
                <a:ea typeface="Calibri" pitchFamily="34" charset="-122"/>
                <a:cs typeface="Calibri" pitchFamily="34" charset="-120"/>
              </a:rPr>
              <a:t>PRÓXIMOS PASOS</a:t>
            </a:r>
            <a:endParaRPr lang="en-US" sz="1150" dirty="0"/>
          </a:p>
        </p:txBody>
      </p:sp>
      <p:sp>
        <p:nvSpPr>
          <p:cNvPr id="4" name="Text 2"/>
          <p:cNvSpPr/>
          <p:nvPr/>
        </p:nvSpPr>
        <p:spPr>
          <a:xfrm>
            <a:off x="1051560" y="1965960"/>
            <a:ext cx="4754880" cy="2377440"/>
          </a:xfrm>
          <a:prstGeom prst="rect">
            <a:avLst/>
          </a:prstGeom>
          <a:noFill/>
          <a:ln/>
        </p:spPr>
        <p:txBody>
          <a:bodyPr wrap="square" lIns="0" tIns="0" rIns="0" bIns="0" rtlCol="0" anchor="ctr"/>
          <a:lstStyle/>
          <a:p>
            <a:pPr marL="342900" indent="-342900">
              <a:lnSpc>
                <a:spcPts val="2100"/>
              </a:lnSpc>
              <a:spcAft>
                <a:spcPts val="800"/>
              </a:spcAft>
              <a:buSzPct val="100000"/>
              <a:buChar char="•"/>
            </a:pPr>
            <a:r>
              <a:rPr lang="en-US" sz="1300" dirty="0">
                <a:solidFill>
                  <a:srgbClr val="D6E0F5"/>
                </a:solidFill>
                <a:latin typeface="Calibri" pitchFamily="34" charset="0"/>
                <a:ea typeface="Calibri" pitchFamily="34" charset="-122"/>
                <a:cs typeface="Calibri" pitchFamily="34" charset="-120"/>
              </a:rPr>
              <a:t>Ampliar el corpus: al menos tres plantillas distintas por familia</a:t>
            </a:r>
            <a:endParaRPr lang="en-US" sz="1300" dirty="0"/>
          </a:p>
          <a:p>
            <a:pPr marL="342900" indent="-342900">
              <a:lnSpc>
                <a:spcPts val="2100"/>
              </a:lnSpc>
              <a:spcAft>
                <a:spcPts val="800"/>
              </a:spcAft>
              <a:buSzPct val="100000"/>
              <a:buChar char="•"/>
            </a:pPr>
            <a:r>
              <a:rPr lang="en-US" sz="1300" dirty="0">
                <a:solidFill>
                  <a:srgbClr val="D6E0F5"/>
                </a:solidFill>
                <a:latin typeface="Calibri" pitchFamily="34" charset="0"/>
                <a:ea typeface="Calibri" pitchFamily="34" charset="-122"/>
                <a:cs typeface="Calibri" pitchFamily="34" charset="-120"/>
              </a:rPr>
              <a:t>Verificar que el clasificador de bytes generalice a tipos de archivo no vistos</a:t>
            </a:r>
            <a:endParaRPr lang="en-US" sz="1300" dirty="0"/>
          </a:p>
          <a:p>
            <a:pPr marL="342900" indent="-342900">
              <a:lnSpc>
                <a:spcPts val="2100"/>
              </a:lnSpc>
              <a:spcAft>
                <a:spcPts val="800"/>
              </a:spcAft>
              <a:buSzPct val="100000"/>
              <a:buChar char="•"/>
            </a:pPr>
            <a:r>
              <a:rPr lang="en-US" sz="1300" dirty="0">
                <a:solidFill>
                  <a:srgbClr val="D6E0F5"/>
                </a:solidFill>
                <a:latin typeface="Calibri" pitchFamily="34" charset="0"/>
                <a:ea typeface="Calibri" pitchFamily="34" charset="-122"/>
                <a:cs typeface="Calibri" pitchFamily="34" charset="-120"/>
              </a:rPr>
              <a:t>Incorporar el nombre de archivo como característica, solo los auténticos</a:t>
            </a:r>
            <a:endParaRPr lang="en-US" sz="1300" dirty="0"/>
          </a:p>
          <a:p>
            <a:pPr marL="342900" indent="-342900">
              <a:lnSpc>
                <a:spcPts val="2100"/>
              </a:lnSpc>
              <a:spcAft>
                <a:spcPts val="800"/>
              </a:spcAft>
              <a:buSzPct val="100000"/>
              <a:buChar char="•"/>
            </a:pPr>
            <a:r>
              <a:rPr lang="en-US" sz="1300" dirty="0">
                <a:solidFill>
                  <a:srgbClr val="D6E0F5"/>
                </a:solidFill>
                <a:latin typeface="Calibri" pitchFamily="34" charset="0"/>
                <a:ea typeface="Calibri" pitchFamily="34" charset="-122"/>
                <a:cs typeface="Calibri" pitchFamily="34" charset="-120"/>
              </a:rPr>
              <a:t>Redacción de conclusiones y cierre del documento</a:t>
            </a:r>
            <a:endParaRPr lang="en-US" sz="1300" dirty="0"/>
          </a:p>
        </p:txBody>
      </p:sp>
      <p:sp>
        <p:nvSpPr>
          <p:cNvPr id="5" name="Text 3"/>
          <p:cNvSpPr/>
          <p:nvPr/>
        </p:nvSpPr>
        <p:spPr>
          <a:xfrm>
            <a:off x="6400800" y="1554480"/>
            <a:ext cx="4937760" cy="274320"/>
          </a:xfrm>
          <a:prstGeom prst="rect">
            <a:avLst/>
          </a:prstGeom>
          <a:noFill/>
          <a:ln/>
        </p:spPr>
        <p:txBody>
          <a:bodyPr wrap="square" lIns="0" tIns="0" rIns="0" bIns="0" rtlCol="0" anchor="ctr"/>
          <a:lstStyle/>
          <a:p>
            <a:pPr indent="0" marL="0">
              <a:buNone/>
            </a:pPr>
            <a:r>
              <a:rPr lang="en-US" sz="1150" b="1" spc="120" kern="0" dirty="0">
                <a:solidFill>
                  <a:srgbClr val="E8A33D"/>
                </a:solidFill>
                <a:latin typeface="Calibri" pitchFamily="34" charset="0"/>
                <a:ea typeface="Calibri" pitchFamily="34" charset="-122"/>
                <a:cs typeface="Calibri" pitchFamily="34" charset="-120"/>
              </a:rPr>
              <a:t>CONSULTAS</a:t>
            </a:r>
            <a:endParaRPr lang="en-US" sz="1150" dirty="0"/>
          </a:p>
        </p:txBody>
      </p:sp>
      <p:sp>
        <p:nvSpPr>
          <p:cNvPr id="6" name="Text 4"/>
          <p:cNvSpPr/>
          <p:nvPr/>
        </p:nvSpPr>
        <p:spPr>
          <a:xfrm>
            <a:off x="6629400" y="1965960"/>
            <a:ext cx="4754880" cy="31089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250" dirty="0">
                <a:solidFill>
                  <a:srgbClr val="D6E0F5"/>
                </a:solidFill>
                <a:latin typeface="Calibri" pitchFamily="34" charset="0"/>
                <a:ea typeface="Calibri" pitchFamily="34" charset="-122"/>
                <a:cs typeface="Calibri" pitchFamily="34" charset="-120"/>
              </a:rPr>
              <a:t>Seis familias no tienen archivo bruto público y se cubrieron con transcripciones documentadas. ¿Se consideran fuentes admisibles, declarándolo como limitación?</a:t>
            </a:r>
            <a:endParaRPr lang="en-US" sz="1250" dirty="0"/>
          </a:p>
          <a:p>
            <a:pPr marL="342900" indent="-342900">
              <a:lnSpc>
                <a:spcPts val="2000"/>
              </a:lnSpc>
              <a:spcAft>
                <a:spcPts val="1000"/>
              </a:spcAft>
              <a:buSzPct val="100000"/>
              <a:buChar char="•"/>
            </a:pPr>
            <a:r>
              <a:rPr lang="en-US" sz="1250" dirty="0">
                <a:solidFill>
                  <a:srgbClr val="D6E0F5"/>
                </a:solidFill>
                <a:latin typeface="Calibri" pitchFamily="34" charset="0"/>
                <a:ea typeface="Calibri" pitchFamily="34" charset="-122"/>
                <a:cs typeface="Calibri" pitchFamily="34" charset="-120"/>
              </a:rPr>
              <a:t>¿Conviene reorganizar los capítulos de modo que cada objetivo específico corresponda a una sección?</a:t>
            </a:r>
            <a:endParaRPr lang="en-US" sz="1250" dirty="0"/>
          </a:p>
          <a:p>
            <a:pPr marL="342900" indent="-342900">
              <a:lnSpc>
                <a:spcPts val="2000"/>
              </a:lnSpc>
              <a:spcAft>
                <a:spcPts val="1000"/>
              </a:spcAft>
              <a:buSzPct val="100000"/>
              <a:buChar char="•"/>
            </a:pPr>
            <a:r>
              <a:rPr lang="en-US" sz="1250" dirty="0">
                <a:solidFill>
                  <a:srgbClr val="D6E0F5"/>
                </a:solidFill>
                <a:latin typeface="Calibri" pitchFamily="34" charset="0"/>
                <a:ea typeface="Calibri" pitchFamily="34" charset="-122"/>
                <a:cs typeface="Calibri" pitchFamily="34" charset="-120"/>
              </a:rPr>
              <a:t>El clúster dispone de GPU. ¿Incluir una comparación con modelos de tipo transformer, o dejarla como trabajo futuro?</a:t>
            </a:r>
            <a:endParaRPr lang="en-US" sz="1250" dirty="0"/>
          </a:p>
        </p:txBody>
      </p:sp>
      <p:sp>
        <p:nvSpPr>
          <p:cNvPr id="7" name="Shape 5"/>
          <p:cNvSpPr/>
          <p:nvPr/>
        </p:nvSpPr>
        <p:spPr>
          <a:xfrm>
            <a:off x="822960" y="5623560"/>
            <a:ext cx="1097280" cy="27432"/>
          </a:xfrm>
          <a:prstGeom prst="rect">
            <a:avLst/>
          </a:prstGeom>
          <a:solidFill>
            <a:srgbClr val="E8A33D"/>
          </a:solidFill>
          <a:ln/>
        </p:spPr>
      </p:sp>
      <p:sp>
        <p:nvSpPr>
          <p:cNvPr id="8" name="Text 6"/>
          <p:cNvSpPr/>
          <p:nvPr/>
        </p:nvSpPr>
        <p:spPr>
          <a:xfrm>
            <a:off x="822960" y="5852160"/>
            <a:ext cx="1051560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Documento actual: 62 páginas  ·  Capítulo de resultados completo  ·  Código y documento versionados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 tesis — Detección de familias de ransomware</dc:title>
  <dc:subject>PptxGenJS Presentation</dc:subject>
  <dc:creator>Romina Alfonzo, Carlos Urdapilleta</dc:creator>
  <cp:lastModifiedBy>Romina Alfonzo, Carlos Urdapilleta</cp:lastModifiedBy>
  <cp:revision>1</cp:revision>
  <dcterms:created xsi:type="dcterms:W3CDTF">2026-08-12T13:35:09Z</dcterms:created>
  <dcterms:modified xsi:type="dcterms:W3CDTF">2026-08-12T13:35:09Z</dcterms:modified>
</cp:coreProperties>
</file>